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344" r:id="rId2"/>
    <p:sldId id="345" r:id="rId3"/>
    <p:sldId id="346" r:id="rId4"/>
    <p:sldId id="360" r:id="rId5"/>
    <p:sldId id="380" r:id="rId6"/>
    <p:sldId id="382" r:id="rId7"/>
    <p:sldId id="361" r:id="rId8"/>
    <p:sldId id="364" r:id="rId9"/>
    <p:sldId id="381" r:id="rId10"/>
    <p:sldId id="362" r:id="rId11"/>
    <p:sldId id="363" r:id="rId12"/>
    <p:sldId id="365" r:id="rId13"/>
    <p:sldId id="367" r:id="rId14"/>
    <p:sldId id="370" r:id="rId15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itchFamily="2" charset="77"/>
      <p:regular r:id="rId21"/>
      <p:bold r:id="rId22"/>
      <p:italic r:id="rId23"/>
      <p:boldItalic r:id="rId24"/>
    </p:embeddedFont>
    <p:embeddedFont>
      <p:font typeface="Montserrat Semi-Bold" pitchFamily="2" charset="7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D37"/>
    <a:srgbClr val="C03653"/>
    <a:srgbClr val="FC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95" autoAdjust="0"/>
    <p:restoredTop sz="94648" autoAdjust="0"/>
  </p:normalViewPr>
  <p:slideViewPr>
    <p:cSldViewPr>
      <p:cViewPr>
        <p:scale>
          <a:sx n="56" d="100"/>
          <a:sy n="56" d="100"/>
        </p:scale>
        <p:origin x="1168" y="8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font" Target="fonts/font9.fntdata"/><Relationship Id="rId26" Type="http://schemas.openxmlformats.org/officeDocument/2006/relationships/font" Target="fonts/font10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7F939-EBE5-D64C-BC87-CE94F0547ADF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144BF-7028-8541-9A03-702113623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7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84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71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26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14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05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44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31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50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54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34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28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144BF-7028-8541-9A03-702113623D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003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microsoft.com/office/2007/relationships/hdphoto" Target="../media/hdphoto1.wdp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microsoft.com/office/2007/relationships/hdphoto" Target="../media/hdphoto2.wdp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microsoft.com/office/2007/relationships/hdphoto" Target="../media/hdphoto3.wdp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7E3D30C1-8781-5D45-B7DE-C3C862772B88}"/>
              </a:ext>
            </a:extLst>
          </p:cNvPr>
          <p:cNvSpPr txBox="1"/>
          <p:nvPr/>
        </p:nvSpPr>
        <p:spPr>
          <a:xfrm>
            <a:off x="1524000" y="1686398"/>
            <a:ext cx="15001621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10B981"/>
                </a:solidFill>
              </a:defRPr>
            </a:pPr>
            <a:r>
              <a:t>BHU-RAIL (भू-रेल)</a:t>
            </a:r>
            <a:endParaRPr lang="en-US" sz="7200" dirty="0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26" name="Google Shape;61;p13">
            <a:extLst>
              <a:ext uri="{FF2B5EF4-FFF2-40B4-BE49-F238E27FC236}">
                <a16:creationId xmlns:a16="http://schemas.microsoft.com/office/drawing/2014/main" id="{EF43ED0D-D51C-7747-84DC-52180A024F99}"/>
              </a:ext>
            </a:extLst>
          </p:cNvPr>
          <p:cNvSpPr txBox="1"/>
          <p:nvPr/>
        </p:nvSpPr>
        <p:spPr>
          <a:xfrm>
            <a:off x="838200" y="3314700"/>
            <a:ext cx="16154400" cy="923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FFFFFF"/>
                </a:solidFill>
              </a:defRPr>
            </a:pPr>
            <a:r>
              <a:t>A Parcel-Centric Digital Public Infrastructure (DPI) &amp; 'Land UPI' Rail for India</a:t>
            </a:r>
            <a:br/>
            <a:r>
              <a:t>Transforming Fragmented Land Records into Canonical, Verifiable Digital Assets</a:t>
            </a:r>
            <a:endParaRPr lang="en-US" sz="2400" dirty="0">
              <a:latin typeface="Montserrat" pitchFamily="2" charset="77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B82516-E58A-914C-923B-B0C9BBE10A61}"/>
              </a:ext>
            </a:extLst>
          </p:cNvPr>
          <p:cNvGrpSpPr/>
          <p:nvPr/>
        </p:nvGrpSpPr>
        <p:grpSpPr>
          <a:xfrm>
            <a:off x="1981200" y="7353300"/>
            <a:ext cx="4953000" cy="914400"/>
            <a:chOff x="3733800" y="6515100"/>
            <a:chExt cx="4953000" cy="914400"/>
          </a:xfrm>
        </p:grpSpPr>
        <p:pic>
          <p:nvPicPr>
            <p:cNvPr id="20" name="Google Shape;266;p24" descr="image.png">
              <a:extLst>
                <a:ext uri="{FF2B5EF4-FFF2-40B4-BE49-F238E27FC236}">
                  <a16:creationId xmlns:a16="http://schemas.microsoft.com/office/drawing/2014/main" id="{EB8AD2BC-6F64-6E4E-9922-580B774F103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3733800" y="6515100"/>
              <a:ext cx="49530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90;p13">
              <a:extLst>
                <a:ext uri="{FF2B5EF4-FFF2-40B4-BE49-F238E27FC236}">
                  <a16:creationId xmlns:a16="http://schemas.microsoft.com/office/drawing/2014/main" id="{6DB5B406-B802-1747-BA48-79E56DBB67F6}"/>
                </a:ext>
              </a:extLst>
            </p:cNvPr>
            <p:cNvSpPr txBox="1"/>
            <p:nvPr/>
          </p:nvSpPr>
          <p:spPr>
            <a:xfrm>
              <a:off x="3886200" y="6702996"/>
              <a:ext cx="4191000" cy="53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SUBMITTED TO:</a:t>
              </a:r>
              <a:br>
                <a:rPr lang="en-US" sz="1400" b="0" i="0" u="none" strike="noStrike" cap="none" dirty="0">
                  <a:latin typeface="Montserrat" pitchFamily="2" charset="77"/>
                  <a:ea typeface="Calibri"/>
                  <a:cs typeface="Calibri"/>
                  <a:sym typeface="Calibri"/>
                </a:rPr>
              </a:br>
              <a:r>
                <a:rPr lang="en-US" sz="1400" b="0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 [Review Board Name / Client Name]</a:t>
              </a:r>
              <a:endParaRPr sz="1400" dirty="0">
                <a:latin typeface="Montserrat" pitchFamily="2" charset="77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5EC344-92E2-9A43-BA58-BE42AA491BA0}"/>
              </a:ext>
            </a:extLst>
          </p:cNvPr>
          <p:cNvGrpSpPr/>
          <p:nvPr/>
        </p:nvGrpSpPr>
        <p:grpSpPr>
          <a:xfrm>
            <a:off x="11201400" y="7353300"/>
            <a:ext cx="4953000" cy="914400"/>
            <a:chOff x="11430000" y="6515100"/>
            <a:chExt cx="4953000" cy="914400"/>
          </a:xfrm>
        </p:grpSpPr>
        <p:pic>
          <p:nvPicPr>
            <p:cNvPr id="21" name="Google Shape;266;p24" descr="image.png">
              <a:extLst>
                <a:ext uri="{FF2B5EF4-FFF2-40B4-BE49-F238E27FC236}">
                  <a16:creationId xmlns:a16="http://schemas.microsoft.com/office/drawing/2014/main" id="{FAA808B9-F24D-AD4B-B774-A827CC815AF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11430000" y="6515100"/>
              <a:ext cx="49530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91;p13">
              <a:extLst>
                <a:ext uri="{FF2B5EF4-FFF2-40B4-BE49-F238E27FC236}">
                  <a16:creationId xmlns:a16="http://schemas.microsoft.com/office/drawing/2014/main" id="{92FDAD74-CB4D-4343-9140-813E9F4A23E8}"/>
                </a:ext>
              </a:extLst>
            </p:cNvPr>
            <p:cNvSpPr txBox="1"/>
            <p:nvPr/>
          </p:nvSpPr>
          <p:spPr>
            <a:xfrm>
              <a:off x="11582400" y="6702996"/>
              <a:ext cx="4343400" cy="53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SUBMITTED BY:</a:t>
              </a:r>
              <a:br>
                <a:rPr lang="en-US" sz="1400" b="0" i="0" u="none" strike="noStrike" cap="none" dirty="0">
                  <a:latin typeface="Montserrat" pitchFamily="2" charset="77"/>
                  <a:ea typeface="Calibri"/>
                  <a:cs typeface="Calibri"/>
                  <a:sym typeface="Calibri"/>
                </a:rPr>
              </a:br>
              <a:r>
                <a:rPr lang="en-US" sz="1400" b="0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 [Your Name / Team ID / Company]</a:t>
              </a:r>
              <a:endParaRPr sz="1400" dirty="0">
                <a:latin typeface="Montserrat" pitchFamily="2" charset="77"/>
              </a:endParaRPr>
            </a:p>
          </p:txBody>
        </p:sp>
      </p:grpSp>
      <p:sp>
        <p:nvSpPr>
          <p:cNvPr id="17" name="Google Shape;89;p13">
            <a:extLst>
              <a:ext uri="{FF2B5EF4-FFF2-40B4-BE49-F238E27FC236}">
                <a16:creationId xmlns:a16="http://schemas.microsoft.com/office/drawing/2014/main" id="{EBB54CAC-1933-C141-BF9A-471E10BB1E52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190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942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8800" spc="-196" dirty="0">
                <a:solidFill>
                  <a:srgbClr val="B20E38"/>
                </a:solidFill>
                <a:latin typeface="Montserrat Semi-Bold"/>
              </a:rPr>
              <a:t>THE PROBLEM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17A54C-4FC9-6A41-B559-94FEE63AEAEB}"/>
              </a:ext>
            </a:extLst>
          </p:cNvPr>
          <p:cNvGrpSpPr/>
          <p:nvPr/>
        </p:nvGrpSpPr>
        <p:grpSpPr>
          <a:xfrm>
            <a:off x="1981200" y="3794046"/>
            <a:ext cx="14325600" cy="3787854"/>
            <a:chOff x="1905000" y="3467100"/>
            <a:chExt cx="14325600" cy="378785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4EF5DC5-4824-1949-AB39-896ED7A87008}"/>
                </a:ext>
              </a:extLst>
            </p:cNvPr>
            <p:cNvGrpSpPr/>
            <p:nvPr/>
          </p:nvGrpSpPr>
          <p:grpSpPr>
            <a:xfrm>
              <a:off x="1905000" y="3467100"/>
              <a:ext cx="6477000" cy="3787854"/>
              <a:chOff x="1905000" y="3467100"/>
              <a:chExt cx="6477000" cy="3787854"/>
            </a:xfrm>
          </p:grpSpPr>
          <p:pic>
            <p:nvPicPr>
              <p:cNvPr id="35" name="Google Shape;266;p24" descr="image.png">
                <a:extLst>
                  <a:ext uri="{FF2B5EF4-FFF2-40B4-BE49-F238E27FC236}">
                    <a16:creationId xmlns:a16="http://schemas.microsoft.com/office/drawing/2014/main" id="{ADF27AD8-5E01-D449-A187-BC75090D0A6C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rcRect/>
              <a:stretch/>
            </p:blipFill>
            <p:spPr>
              <a:xfrm>
                <a:off x="1905000" y="3467100"/>
                <a:ext cx="6477000" cy="378785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9AE7E4B-F228-5A4A-B1E9-AD68882F435E}"/>
                  </a:ext>
                </a:extLst>
              </p:cNvPr>
              <p:cNvGrpSpPr/>
              <p:nvPr/>
            </p:nvGrpSpPr>
            <p:grpSpPr>
              <a:xfrm>
                <a:off x="2286000" y="4019669"/>
                <a:ext cx="5791200" cy="2682716"/>
                <a:chOff x="2286000" y="4116586"/>
                <a:chExt cx="5791200" cy="2682716"/>
              </a:xfrm>
            </p:grpSpPr>
            <p:sp>
              <p:nvSpPr>
                <p:cNvPr id="29" name="Google Shape;101;p14">
                  <a:extLst>
                    <a:ext uri="{FF2B5EF4-FFF2-40B4-BE49-F238E27FC236}">
                      <a16:creationId xmlns:a16="http://schemas.microsoft.com/office/drawing/2014/main" id="{38A95B52-41DD-034F-9D4A-75BB38A3F0BB}"/>
                    </a:ext>
                  </a:extLst>
                </p:cNvPr>
                <p:cNvSpPr txBox="1"/>
                <p:nvPr/>
              </p:nvSpPr>
              <p:spPr>
                <a:xfrm>
                  <a:off x="2286000" y="4116586"/>
                  <a:ext cx="4830603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i="0" u="none" strike="noStrike" cap="none" dirty="0">
                      <a:solidFill>
                        <a:srgbClr val="B20D37"/>
                      </a:solidFill>
                      <a:latin typeface="Montserrat" pitchFamily="2" charset="77"/>
                      <a:ea typeface="Urbanist SemiBold"/>
                      <a:cs typeface="Urbanist SemiBold"/>
                      <a:sym typeface="Urbanist SemiBold"/>
                    </a:rPr>
                    <a:t>The Problem</a:t>
                  </a:r>
                  <a:endParaRPr sz="2400" b="1" dirty="0">
                    <a:solidFill>
                      <a:srgbClr val="B20D37"/>
                    </a:solidFill>
                    <a:latin typeface="Montserrat" pitchFamily="2" charset="77"/>
                  </a:endParaRPr>
                </a:p>
              </p:txBody>
            </p:sp>
            <p:sp>
              <p:nvSpPr>
                <p:cNvPr id="30" name="Google Shape;102;p14">
                  <a:extLst>
                    <a:ext uri="{FF2B5EF4-FFF2-40B4-BE49-F238E27FC236}">
                      <a16:creationId xmlns:a16="http://schemas.microsoft.com/office/drawing/2014/main" id="{93B8BBB2-316B-544D-A64B-DEB78D7BA186}"/>
                    </a:ext>
                  </a:extLst>
                </p:cNvPr>
                <p:cNvSpPr txBox="1"/>
                <p:nvPr/>
              </p:nvSpPr>
              <p:spPr>
                <a:xfrm>
                  <a:off x="2286000" y="4583311"/>
                  <a:ext cx="5791200" cy="22159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0" i="0" u="none" strike="noStrike" cap="none" dirty="0">
                      <a:latin typeface="Montserrat" pitchFamily="2" charset="77"/>
                      <a:ea typeface="Urbanist"/>
                      <a:cs typeface="Urbanist"/>
                      <a:sym typeface="Urbanist"/>
                    </a:rPr>
                    <a:t>[Describe the friction, pain point, or inefficiency you discovered. Be specific about the "Who" and "When".]</a:t>
                  </a:r>
                  <a:endParaRPr sz="2400" dirty="0">
                    <a:latin typeface="Montserrat" pitchFamily="2" charset="77"/>
                  </a:endParaRPr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19113D-FFED-2B4F-8899-ED0EC9123DEF}"/>
                </a:ext>
              </a:extLst>
            </p:cNvPr>
            <p:cNvGrpSpPr/>
            <p:nvPr/>
          </p:nvGrpSpPr>
          <p:grpSpPr>
            <a:xfrm>
              <a:off x="9753600" y="3467100"/>
              <a:ext cx="6477000" cy="3787854"/>
              <a:chOff x="8915400" y="3467100"/>
              <a:chExt cx="6477000" cy="3787854"/>
            </a:xfrm>
          </p:grpSpPr>
          <p:pic>
            <p:nvPicPr>
              <p:cNvPr id="36" name="Google Shape;266;p24" descr="image.png">
                <a:extLst>
                  <a:ext uri="{FF2B5EF4-FFF2-40B4-BE49-F238E27FC236}">
                    <a16:creationId xmlns:a16="http://schemas.microsoft.com/office/drawing/2014/main" id="{25C17039-73BA-B94D-94D6-CB073A9A2972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rcRect/>
              <a:stretch/>
            </p:blipFill>
            <p:spPr>
              <a:xfrm>
                <a:off x="8915400" y="3467100"/>
                <a:ext cx="6477000" cy="378785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ED6D852-EA98-DB4C-AC25-0014E796DD01}"/>
                  </a:ext>
                </a:extLst>
              </p:cNvPr>
              <p:cNvGrpSpPr/>
              <p:nvPr/>
            </p:nvGrpSpPr>
            <p:grpSpPr>
              <a:xfrm>
                <a:off x="9258300" y="4019669"/>
                <a:ext cx="5791200" cy="2682716"/>
                <a:chOff x="9258300" y="3848100"/>
                <a:chExt cx="5791200" cy="2682716"/>
              </a:xfrm>
            </p:grpSpPr>
            <p:sp>
              <p:nvSpPr>
                <p:cNvPr id="31" name="Google Shape;103;p14">
                  <a:extLst>
                    <a:ext uri="{FF2B5EF4-FFF2-40B4-BE49-F238E27FC236}">
                      <a16:creationId xmlns:a16="http://schemas.microsoft.com/office/drawing/2014/main" id="{8EF76812-6A46-444A-91C1-303CC275AE09}"/>
                    </a:ext>
                  </a:extLst>
                </p:cNvPr>
                <p:cNvSpPr txBox="1"/>
                <p:nvPr/>
              </p:nvSpPr>
              <p:spPr>
                <a:xfrm>
                  <a:off x="9258300" y="3848100"/>
                  <a:ext cx="4830603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i="0" u="none" strike="noStrike" cap="none">
                      <a:solidFill>
                        <a:srgbClr val="B20D37"/>
                      </a:solidFill>
                      <a:latin typeface="Montserrat" pitchFamily="2" charset="77"/>
                      <a:ea typeface="Urbanist SemiBold"/>
                      <a:cs typeface="Urbanist SemiBold"/>
                      <a:sym typeface="Urbanist SemiBold"/>
                    </a:rPr>
                    <a:t>Why It Matters</a:t>
                  </a:r>
                  <a:endParaRPr sz="2400" b="1">
                    <a:solidFill>
                      <a:srgbClr val="B20D37"/>
                    </a:solidFill>
                    <a:latin typeface="Montserrat" pitchFamily="2" charset="77"/>
                  </a:endParaRPr>
                </a:p>
              </p:txBody>
            </p:sp>
            <p:sp>
              <p:nvSpPr>
                <p:cNvPr id="32" name="Google Shape;104;p14">
                  <a:extLst>
                    <a:ext uri="{FF2B5EF4-FFF2-40B4-BE49-F238E27FC236}">
                      <a16:creationId xmlns:a16="http://schemas.microsoft.com/office/drawing/2014/main" id="{96AA504C-4ACB-9D4C-892A-F1C7EAD8C489}"/>
                    </a:ext>
                  </a:extLst>
                </p:cNvPr>
                <p:cNvSpPr txBox="1"/>
                <p:nvPr/>
              </p:nvSpPr>
              <p:spPr>
                <a:xfrm>
                  <a:off x="9258300" y="4314825"/>
                  <a:ext cx="5791200" cy="22159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0" i="0" u="none" strike="noStrike" cap="none" dirty="0">
                      <a:latin typeface="Montserrat" pitchFamily="2" charset="77"/>
                      <a:ea typeface="Urbanist"/>
                      <a:cs typeface="Urbanist"/>
                      <a:sym typeface="Urbanist"/>
                    </a:rPr>
                    <a:t>[Quantify the impact. What happens if this isn't solved? (e.g., lost time, safety risks, financial cost, or emotional fatigue).]</a:t>
                  </a:r>
                  <a:endParaRPr sz="2400" dirty="0">
                    <a:latin typeface="Montserrat" pitchFamily="2" charset="77"/>
                  </a:endParaRPr>
                </a:p>
              </p:txBody>
            </p:sp>
          </p:grpSp>
        </p:grpSp>
      </p:grpSp>
      <p:sp>
        <p:nvSpPr>
          <p:cNvPr id="37" name="Google Shape;89;p13">
            <a:extLst>
              <a:ext uri="{FF2B5EF4-FFF2-40B4-BE49-F238E27FC236}">
                <a16:creationId xmlns:a16="http://schemas.microsoft.com/office/drawing/2014/main" id="{DA55081F-94CB-1B44-952F-36E1EC3F6A5B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9877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5240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PERSONA</a:t>
            </a:r>
          </a:p>
        </p:txBody>
      </p:sp>
      <p:sp>
        <p:nvSpPr>
          <p:cNvPr id="11" name="Google Shape;115;p15">
            <a:extLst>
              <a:ext uri="{FF2B5EF4-FFF2-40B4-BE49-F238E27FC236}">
                <a16:creationId xmlns:a16="http://schemas.microsoft.com/office/drawing/2014/main" id="{EE55B0B0-563F-3048-AB45-F6F28DF94382}"/>
              </a:ext>
            </a:extLst>
          </p:cNvPr>
          <p:cNvSpPr txBox="1"/>
          <p:nvPr/>
        </p:nvSpPr>
        <p:spPr>
          <a:xfrm>
            <a:off x="9144000" y="369570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10B981"/>
                </a:solidFill>
              </a:defRPr>
            </a:pPr>
            <a:r>
              <a:t>Key Stakeholders: Citizen, Bank Underwriter &amp; Sub-Registrar</a:t>
            </a:r>
            <a:endParaRPr sz="2400" b="1" dirty="0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12" name="Google Shape;116;p15">
            <a:extLst>
              <a:ext uri="{FF2B5EF4-FFF2-40B4-BE49-F238E27FC236}">
                <a16:creationId xmlns:a16="http://schemas.microsoft.com/office/drawing/2014/main" id="{F5D6606B-7422-F24B-BD77-31574893A0B2}"/>
              </a:ext>
            </a:extLst>
          </p:cNvPr>
          <p:cNvSpPr txBox="1"/>
          <p:nvPr/>
        </p:nvSpPr>
        <p:spPr>
          <a:xfrm>
            <a:off x="9144000" y="4095750"/>
            <a:ext cx="75723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FFFFFF"/>
                </a:solidFill>
              </a:defRPr>
            </a:pPr>
            <a:r>
              <a:t>1. Citizen Land Buyer (Rajesh, 42): Middle-class purchaser investing life savings, terrified of hidden court stays.</a:t>
            </a:r>
            <a:br/>
            <a:r>
              <a:t>2. Bank Credit Officer (Ananya, 34): Needs instant, legally tamper-free collateral title verification for loan approvals.</a:t>
            </a:r>
            <a:br/>
            <a:r>
              <a:t>3. Sub-Registrar / Revenue Officer: Pressured to execute deeds without real-time synchronization with court injunctions.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4" name="Google Shape;117;p15">
            <a:extLst>
              <a:ext uri="{FF2B5EF4-FFF2-40B4-BE49-F238E27FC236}">
                <a16:creationId xmlns:a16="http://schemas.microsoft.com/office/drawing/2014/main" id="{1A00D5BE-32F5-8D4C-B481-281C4D1ED82D}"/>
              </a:ext>
            </a:extLst>
          </p:cNvPr>
          <p:cNvSpPr txBox="1"/>
          <p:nvPr/>
        </p:nvSpPr>
        <p:spPr>
          <a:xfrm>
            <a:off x="9144000" y="5762922"/>
            <a:ext cx="7572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F59E0B"/>
                </a:solidFill>
              </a:defRPr>
            </a:pPr>
            <a:r>
              <a:t>Key Need: A single, authoritative, real-time 'Property Passport' verifying title, active liens, and spatial boundaries in seconds.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5" name="Google Shape;118;p15">
            <a:extLst>
              <a:ext uri="{FF2B5EF4-FFF2-40B4-BE49-F238E27FC236}">
                <a16:creationId xmlns:a16="http://schemas.microsoft.com/office/drawing/2014/main" id="{721BBECD-42FD-FC41-A4B2-6E279181B896}"/>
              </a:ext>
            </a:extLst>
          </p:cNvPr>
          <p:cNvSpPr txBox="1"/>
          <p:nvPr/>
        </p:nvSpPr>
        <p:spPr>
          <a:xfrm>
            <a:off x="9144000" y="6723101"/>
            <a:ext cx="7572375" cy="5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E2E8F0"/>
                </a:solidFill>
              </a:defRPr>
            </a:pPr>
            <a:r>
              <a:t>Frustration: Having a stamped paper registry deed that provides zero guarantee against prior mortgages or active civil stays.</a:t>
            </a:r>
            <a:endParaRPr sz="2400" dirty="0">
              <a:latin typeface="Montserrat" pitchFamily="2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A77CB0-6784-7B45-929D-FB84E07D482C}"/>
              </a:ext>
            </a:extLst>
          </p:cNvPr>
          <p:cNvGrpSpPr/>
          <p:nvPr/>
        </p:nvGrpSpPr>
        <p:grpSpPr>
          <a:xfrm>
            <a:off x="3200400" y="3419475"/>
            <a:ext cx="3810000" cy="3810000"/>
            <a:chOff x="3200400" y="2809875"/>
            <a:chExt cx="3810000" cy="3810000"/>
          </a:xfrm>
        </p:grpSpPr>
        <p:pic>
          <p:nvPicPr>
            <p:cNvPr id="18" name="Google Shape;112;p15" descr="image.png">
              <a:extLst>
                <a:ext uri="{FF2B5EF4-FFF2-40B4-BE49-F238E27FC236}">
                  <a16:creationId xmlns:a16="http://schemas.microsoft.com/office/drawing/2014/main" id="{523A4F1E-5772-D84C-8E3E-6A4248B2931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3200400" y="2809875"/>
              <a:ext cx="3810000" cy="381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19;p15" descr="image.png">
              <a:extLst>
                <a:ext uri="{FF2B5EF4-FFF2-40B4-BE49-F238E27FC236}">
                  <a16:creationId xmlns:a16="http://schemas.microsoft.com/office/drawing/2014/main" id="{D538CF88-9F83-1440-B670-13A6C84EBD3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295650" y="2905125"/>
              <a:ext cx="3619500" cy="361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89;p13">
            <a:extLst>
              <a:ext uri="{FF2B5EF4-FFF2-40B4-BE49-F238E27FC236}">
                <a16:creationId xmlns:a16="http://schemas.microsoft.com/office/drawing/2014/main" id="{ABF5A44F-9617-5D4F-85BB-0C31D25A2DD2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4651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RESEARCH SYNTHESIS</a:t>
            </a:r>
          </a:p>
        </p:txBody>
      </p:sp>
      <p:pic>
        <p:nvPicPr>
          <p:cNvPr id="31" name="Google Shape;266;p24" descr="image.png">
            <a:extLst>
              <a:ext uri="{FF2B5EF4-FFF2-40B4-BE49-F238E27FC236}">
                <a16:creationId xmlns:a16="http://schemas.microsoft.com/office/drawing/2014/main" id="{BFE04659-2031-1A48-9355-9FC502C1A7BC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71500" y="3489246"/>
            <a:ext cx="5334000" cy="37878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BB3F36CE-5221-0245-AE43-68893BB80559}"/>
              </a:ext>
            </a:extLst>
          </p:cNvPr>
          <p:cNvGrpSpPr/>
          <p:nvPr/>
        </p:nvGrpSpPr>
        <p:grpSpPr>
          <a:xfrm>
            <a:off x="1279476" y="3695700"/>
            <a:ext cx="3918049" cy="2871668"/>
            <a:chOff x="1150838" y="3257550"/>
            <a:chExt cx="3918049" cy="2871668"/>
          </a:xfrm>
        </p:grpSpPr>
        <p:sp>
          <p:nvSpPr>
            <p:cNvPr id="21" name="Google Shape;132;p16">
              <a:extLst>
                <a:ext uri="{FF2B5EF4-FFF2-40B4-BE49-F238E27FC236}">
                  <a16:creationId xmlns:a16="http://schemas.microsoft.com/office/drawing/2014/main" id="{1E967DD1-0B00-2A4A-A5E5-773A70E8187F}"/>
                </a:ext>
              </a:extLst>
            </p:cNvPr>
            <p:cNvSpPr txBox="1"/>
            <p:nvPr/>
          </p:nvSpPr>
          <p:spPr>
            <a:xfrm>
              <a:off x="1576311" y="4000500"/>
              <a:ext cx="30671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B20D37"/>
                  </a:solidFill>
                  <a:latin typeface="Montserrat" pitchFamily="2" charset="77"/>
                  <a:ea typeface="Urbanist SemiBold"/>
                  <a:cs typeface="Urbanist SemiBold"/>
                  <a:sym typeface="Urbanist SemiBold"/>
                </a:rPr>
                <a:t>Secondary</a:t>
              </a:r>
              <a:endParaRPr sz="2400" b="1" dirty="0">
                <a:solidFill>
                  <a:srgbClr val="B20D37"/>
                </a:solidFill>
                <a:latin typeface="Montserrat" pitchFamily="2" charset="77"/>
              </a:endParaRPr>
            </a:p>
          </p:txBody>
        </p:sp>
        <p:sp>
          <p:nvSpPr>
            <p:cNvPr id="22" name="Google Shape;133;p16">
              <a:extLst>
                <a:ext uri="{FF2B5EF4-FFF2-40B4-BE49-F238E27FC236}">
                  <a16:creationId xmlns:a16="http://schemas.microsoft.com/office/drawing/2014/main" id="{C4649407-2B1D-FA47-BE0F-413CA80A124C}"/>
                </a:ext>
              </a:extLst>
            </p:cNvPr>
            <p:cNvSpPr txBox="1"/>
            <p:nvPr/>
          </p:nvSpPr>
          <p:spPr>
            <a:xfrm>
              <a:off x="1150838" y="4467225"/>
              <a:ext cx="3918049" cy="1661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[Summarize key stats from reports or competitor audits.]</a:t>
              </a:r>
              <a:endParaRPr sz="2400" dirty="0">
                <a:latin typeface="Montserrat" pitchFamily="2" charset="77"/>
              </a:endParaRPr>
            </a:p>
          </p:txBody>
        </p:sp>
        <p:pic>
          <p:nvPicPr>
            <p:cNvPr id="27" name="Google Shape;138;p16" descr="image.png">
              <a:extLst>
                <a:ext uri="{FF2B5EF4-FFF2-40B4-BE49-F238E27FC236}">
                  <a16:creationId xmlns:a16="http://schemas.microsoft.com/office/drawing/2014/main" id="{6CFDC0B6-437D-634F-8061-A25DBE335BF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72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2947937" y="3257550"/>
              <a:ext cx="323850" cy="428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" name="Google Shape;266;p24" descr="image.png">
            <a:extLst>
              <a:ext uri="{FF2B5EF4-FFF2-40B4-BE49-F238E27FC236}">
                <a16:creationId xmlns:a16="http://schemas.microsoft.com/office/drawing/2014/main" id="{C44E10B1-168E-7D43-AD2C-B191F2FA585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477000" y="3489246"/>
            <a:ext cx="5334000" cy="37878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FEB437A-BC19-2844-91E3-868F67536577}"/>
              </a:ext>
            </a:extLst>
          </p:cNvPr>
          <p:cNvGrpSpPr/>
          <p:nvPr/>
        </p:nvGrpSpPr>
        <p:grpSpPr>
          <a:xfrm>
            <a:off x="7184976" y="3695700"/>
            <a:ext cx="3918049" cy="3425666"/>
            <a:chOff x="7184976" y="3670340"/>
            <a:chExt cx="3918049" cy="3425666"/>
          </a:xfrm>
        </p:grpSpPr>
        <p:sp>
          <p:nvSpPr>
            <p:cNvPr id="23" name="Google Shape;134;p16">
              <a:extLst>
                <a:ext uri="{FF2B5EF4-FFF2-40B4-BE49-F238E27FC236}">
                  <a16:creationId xmlns:a16="http://schemas.microsoft.com/office/drawing/2014/main" id="{0743F4B4-1F5A-EF48-A5E1-159EE62059C2}"/>
                </a:ext>
              </a:extLst>
            </p:cNvPr>
            <p:cNvSpPr txBox="1"/>
            <p:nvPr/>
          </p:nvSpPr>
          <p:spPr>
            <a:xfrm>
              <a:off x="7610449" y="4413290"/>
              <a:ext cx="30671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B20D37"/>
                  </a:solidFill>
                  <a:latin typeface="Montserrat" pitchFamily="2" charset="77"/>
                  <a:ea typeface="Urbanist SemiBold"/>
                  <a:cs typeface="Urbanist SemiBold"/>
                  <a:sym typeface="Urbanist SemiBold"/>
                </a:rPr>
                <a:t>Primary</a:t>
              </a:r>
              <a:endParaRPr sz="2400" b="1" dirty="0">
                <a:solidFill>
                  <a:srgbClr val="B20D37"/>
                </a:solidFill>
                <a:latin typeface="Montserrat" pitchFamily="2" charset="77"/>
              </a:endParaRPr>
            </a:p>
          </p:txBody>
        </p:sp>
        <p:sp>
          <p:nvSpPr>
            <p:cNvPr id="24" name="Google Shape;135;p16">
              <a:extLst>
                <a:ext uri="{FF2B5EF4-FFF2-40B4-BE49-F238E27FC236}">
                  <a16:creationId xmlns:a16="http://schemas.microsoft.com/office/drawing/2014/main" id="{0B80F052-7EFF-1340-A974-555A09B3402D}"/>
                </a:ext>
              </a:extLst>
            </p:cNvPr>
            <p:cNvSpPr txBox="1"/>
            <p:nvPr/>
          </p:nvSpPr>
          <p:spPr>
            <a:xfrm>
              <a:off x="7184976" y="4880015"/>
              <a:ext cx="3918049" cy="2215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[Insights from interviews/surveys. Use a direct user quote if possible.]</a:t>
              </a:r>
              <a:endParaRPr sz="2400" dirty="0">
                <a:latin typeface="Montserrat" pitchFamily="2" charset="77"/>
              </a:endParaRPr>
            </a:p>
          </p:txBody>
        </p:sp>
        <p:pic>
          <p:nvPicPr>
            <p:cNvPr id="28" name="Google Shape;139;p16" descr="image.png">
              <a:extLst>
                <a:ext uri="{FF2B5EF4-FFF2-40B4-BE49-F238E27FC236}">
                  <a16:creationId xmlns:a16="http://schemas.microsoft.com/office/drawing/2014/main" id="{58073DAA-B901-6C49-854A-7E5FC5CAC7F6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8982075" y="3670340"/>
              <a:ext cx="323850" cy="428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" name="Google Shape;266;p24" descr="image.png">
            <a:extLst>
              <a:ext uri="{FF2B5EF4-FFF2-40B4-BE49-F238E27FC236}">
                <a16:creationId xmlns:a16="http://schemas.microsoft.com/office/drawing/2014/main" id="{F274013A-0E6C-3A43-A88A-DF002658A0D5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382500" y="3489246"/>
            <a:ext cx="5334000" cy="37878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F1DF098F-ACE7-A844-BD92-B7DC51BC71CD}"/>
              </a:ext>
            </a:extLst>
          </p:cNvPr>
          <p:cNvGrpSpPr/>
          <p:nvPr/>
        </p:nvGrpSpPr>
        <p:grpSpPr>
          <a:xfrm>
            <a:off x="12687301" y="3695700"/>
            <a:ext cx="4724399" cy="2871668"/>
            <a:chOff x="12687301" y="3947339"/>
            <a:chExt cx="4724399" cy="2871668"/>
          </a:xfrm>
        </p:grpSpPr>
        <p:sp>
          <p:nvSpPr>
            <p:cNvPr id="25" name="Google Shape;136;p16">
              <a:extLst>
                <a:ext uri="{FF2B5EF4-FFF2-40B4-BE49-F238E27FC236}">
                  <a16:creationId xmlns:a16="http://schemas.microsoft.com/office/drawing/2014/main" id="{4340A542-9B18-984C-B4FF-6F0717FE9408}"/>
                </a:ext>
              </a:extLst>
            </p:cNvPr>
            <p:cNvSpPr txBox="1"/>
            <p:nvPr/>
          </p:nvSpPr>
          <p:spPr>
            <a:xfrm>
              <a:off x="13515949" y="4690289"/>
              <a:ext cx="30671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B20D37"/>
                  </a:solidFill>
                  <a:latin typeface="Montserrat" pitchFamily="2" charset="77"/>
                  <a:ea typeface="Urbanist SemiBold"/>
                  <a:cs typeface="Urbanist SemiBold"/>
                  <a:sym typeface="Urbanist SemiBold"/>
                </a:rPr>
                <a:t>Empathy Map</a:t>
              </a:r>
              <a:endParaRPr sz="2400" b="1" dirty="0">
                <a:solidFill>
                  <a:srgbClr val="B20D37"/>
                </a:solidFill>
                <a:latin typeface="Montserrat" pitchFamily="2" charset="77"/>
              </a:endParaRPr>
            </a:p>
          </p:txBody>
        </p:sp>
        <p:sp>
          <p:nvSpPr>
            <p:cNvPr id="26" name="Google Shape;137;p16">
              <a:extLst>
                <a:ext uri="{FF2B5EF4-FFF2-40B4-BE49-F238E27FC236}">
                  <a16:creationId xmlns:a16="http://schemas.microsoft.com/office/drawing/2014/main" id="{48657C84-10F1-134D-8F12-A3FAB782EB97}"/>
                </a:ext>
              </a:extLst>
            </p:cNvPr>
            <p:cNvSpPr txBox="1"/>
            <p:nvPr/>
          </p:nvSpPr>
          <p:spPr>
            <a:xfrm>
              <a:off x="12687301" y="5157014"/>
              <a:ext cx="4724399" cy="1661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[Identify the difference between what people say vs. what they actually do.]</a:t>
              </a:r>
              <a:endParaRPr sz="2400" dirty="0">
                <a:latin typeface="Montserrat" pitchFamily="2" charset="77"/>
              </a:endParaRPr>
            </a:p>
          </p:txBody>
        </p:sp>
        <p:pic>
          <p:nvPicPr>
            <p:cNvPr id="29" name="Google Shape;140;p16" descr="image.png">
              <a:extLst>
                <a:ext uri="{FF2B5EF4-FFF2-40B4-BE49-F238E27FC236}">
                  <a16:creationId xmlns:a16="http://schemas.microsoft.com/office/drawing/2014/main" id="{74EFD9E0-23EF-8F47-B3BF-898D4856A67A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14806613" y="3947339"/>
              <a:ext cx="485775" cy="428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" name="Google Shape;89;p13">
            <a:extLst>
              <a:ext uri="{FF2B5EF4-FFF2-40B4-BE49-F238E27FC236}">
                <a16:creationId xmlns:a16="http://schemas.microsoft.com/office/drawing/2014/main" id="{84067260-63F3-0A41-A44F-250F16E2BCA4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8175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HOW MIGHT WE STATEMENT</a:t>
            </a:r>
          </a:p>
        </p:txBody>
      </p:sp>
      <p:sp>
        <p:nvSpPr>
          <p:cNvPr id="33" name="Google Shape;152;p17">
            <a:extLst>
              <a:ext uri="{FF2B5EF4-FFF2-40B4-BE49-F238E27FC236}">
                <a16:creationId xmlns:a16="http://schemas.microsoft.com/office/drawing/2014/main" id="{F2147DFE-C8D7-1247-AE9C-B568AB7FBCCB}"/>
              </a:ext>
            </a:extLst>
          </p:cNvPr>
          <p:cNvSpPr txBox="1"/>
          <p:nvPr/>
        </p:nvSpPr>
        <p:spPr>
          <a:xfrm>
            <a:off x="1752600" y="461010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B20D37"/>
                </a:solidFill>
                <a:latin typeface="Montserrat" pitchFamily="2" charset="77"/>
                <a:ea typeface="Urbanist SemiBold"/>
                <a:cs typeface="Urbanist SemiBold"/>
                <a:sym typeface="Urbanist SemiBold"/>
              </a:rPr>
              <a:t>How Might We?</a:t>
            </a:r>
            <a:endParaRPr sz="2400" b="1" dirty="0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34" name="Google Shape;153;p17">
            <a:extLst>
              <a:ext uri="{FF2B5EF4-FFF2-40B4-BE49-F238E27FC236}">
                <a16:creationId xmlns:a16="http://schemas.microsoft.com/office/drawing/2014/main" id="{E19B402C-ADC2-E84F-B381-CEAE8DD08964}"/>
              </a:ext>
            </a:extLst>
          </p:cNvPr>
          <p:cNvSpPr txBox="1"/>
          <p:nvPr/>
        </p:nvSpPr>
        <p:spPr>
          <a:xfrm>
            <a:off x="1752600" y="5076825"/>
            <a:ext cx="14401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0B981"/>
                </a:solidFill>
              </a:defRPr>
            </a:pPr>
            <a:r>
              <a:t>How might we convert fragmented land records into a canonical, verifiable digital asset with open standardized APIs ('Land UPI'), so that banks, registries, courts, and citizens can verify and transact land frictionlessly in milliseconds?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35" name="Google Shape;154;p17">
            <a:extLst>
              <a:ext uri="{FF2B5EF4-FFF2-40B4-BE49-F238E27FC236}">
                <a16:creationId xmlns:a16="http://schemas.microsoft.com/office/drawing/2014/main" id="{F1F4BDA7-BB3C-E841-8739-9F660B2B4898}"/>
              </a:ext>
            </a:extLst>
          </p:cNvPr>
          <p:cNvSpPr txBox="1"/>
          <p:nvPr/>
        </p:nvSpPr>
        <p:spPr>
          <a:xfrm>
            <a:off x="1752600" y="5838825"/>
            <a:ext cx="14249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FFFFFF"/>
                </a:solidFill>
              </a:defRPr>
            </a:pPr>
            <a:r>
              <a:t>Key Opportunity: Build the National Rail Protocol (the UPI of Land). Instead of forcing 28 states to rewrite their internal databases, Bhu-Rail introduces an adapter layer and canonical parcel rails that all applications can plug into.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36" name="Google Shape;89;p13">
            <a:extLst>
              <a:ext uri="{FF2B5EF4-FFF2-40B4-BE49-F238E27FC236}">
                <a16:creationId xmlns:a16="http://schemas.microsoft.com/office/drawing/2014/main" id="{FC0FC989-1C6F-5E40-BAE7-D56B191FDA4A}"/>
              </a:ext>
            </a:extLst>
          </p:cNvPr>
          <p:cNvSpPr txBox="1"/>
          <p:nvPr/>
        </p:nvSpPr>
        <p:spPr>
          <a:xfrm>
            <a:off x="1164432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9945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IDEA SELECTION</a:t>
            </a:r>
          </a:p>
        </p:txBody>
      </p:sp>
      <p:pic>
        <p:nvPicPr>
          <p:cNvPr id="13" name="Google Shape;163;p18" descr="image.png">
            <a:extLst>
              <a:ext uri="{FF2B5EF4-FFF2-40B4-BE49-F238E27FC236}">
                <a16:creationId xmlns:a16="http://schemas.microsoft.com/office/drawing/2014/main" id="{23584DC7-DE08-0247-A106-A88C2F4FCD5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B20D37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620000" y="3086100"/>
            <a:ext cx="5286375" cy="213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E0BBC2E-0CA1-D041-B979-0E6DC4AC1009}"/>
              </a:ext>
            </a:extLst>
          </p:cNvPr>
          <p:cNvGrpSpPr/>
          <p:nvPr/>
        </p:nvGrpSpPr>
        <p:grpSpPr>
          <a:xfrm>
            <a:off x="6477000" y="3870246"/>
            <a:ext cx="5334000" cy="3787854"/>
            <a:chOff x="3086100" y="3489246"/>
            <a:chExt cx="5334000" cy="3787854"/>
          </a:xfrm>
        </p:grpSpPr>
        <p:pic>
          <p:nvPicPr>
            <p:cNvPr id="19" name="Google Shape;266;p24" descr="image.png">
              <a:extLst>
                <a:ext uri="{FF2B5EF4-FFF2-40B4-BE49-F238E27FC236}">
                  <a16:creationId xmlns:a16="http://schemas.microsoft.com/office/drawing/2014/main" id="{55D33A49-C765-9C4C-8956-0CA8172D413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3086100" y="3489246"/>
              <a:ext cx="5334000" cy="37878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07C7BC0-4C5A-604E-9D6C-404196FDD894}"/>
                </a:ext>
              </a:extLst>
            </p:cNvPr>
            <p:cNvGrpSpPr/>
            <p:nvPr/>
          </p:nvGrpSpPr>
          <p:grpSpPr>
            <a:xfrm>
              <a:off x="3337799" y="4519613"/>
              <a:ext cx="4830603" cy="1574721"/>
              <a:chOff x="2200275" y="3695700"/>
              <a:chExt cx="4830603" cy="1574721"/>
            </a:xfrm>
          </p:grpSpPr>
          <p:sp>
            <p:nvSpPr>
              <p:cNvPr id="15" name="Google Shape;166;p18">
                <a:extLst>
                  <a:ext uri="{FF2B5EF4-FFF2-40B4-BE49-F238E27FC236}">
                    <a16:creationId xmlns:a16="http://schemas.microsoft.com/office/drawing/2014/main" id="{09110271-8FCF-9843-991B-1EFA96C755AD}"/>
                  </a:ext>
                </a:extLst>
              </p:cNvPr>
              <p:cNvSpPr txBox="1"/>
              <p:nvPr/>
            </p:nvSpPr>
            <p:spPr>
              <a:xfrm>
                <a:off x="2200275" y="3695700"/>
                <a:ext cx="48306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i="0" u="none" strike="noStrike" cap="none" dirty="0">
                    <a:solidFill>
                      <a:srgbClr val="B20D37"/>
                    </a:solidFill>
                    <a:latin typeface="Montserrat" pitchFamily="2" charset="77"/>
                    <a:ea typeface="Urbanist SemiBold"/>
                    <a:cs typeface="Urbanist SemiBold"/>
                    <a:sym typeface="Urbanist SemiBold"/>
                  </a:rPr>
                  <a:t>Ideation Phase</a:t>
                </a:r>
                <a:endParaRPr sz="2400" b="1" dirty="0">
                  <a:solidFill>
                    <a:srgbClr val="B20D37"/>
                  </a:solidFill>
                  <a:latin typeface="Montserrat" pitchFamily="2" charset="77"/>
                </a:endParaRPr>
              </a:p>
            </p:txBody>
          </p:sp>
          <p:sp>
            <p:nvSpPr>
              <p:cNvPr id="16" name="Google Shape;167;p18">
                <a:extLst>
                  <a:ext uri="{FF2B5EF4-FFF2-40B4-BE49-F238E27FC236}">
                    <a16:creationId xmlns:a16="http://schemas.microsoft.com/office/drawing/2014/main" id="{BB1B512E-2AC6-3F45-8E90-37C8BDCE8DD6}"/>
                  </a:ext>
                </a:extLst>
              </p:cNvPr>
              <p:cNvSpPr txBox="1"/>
              <p:nvPr/>
            </p:nvSpPr>
            <p:spPr>
              <a:xfrm>
                <a:off x="2200275" y="4162425"/>
                <a:ext cx="4600575" cy="1107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0" i="0" u="none" strike="noStrike" cap="none" dirty="0">
                    <a:latin typeface="Montserrat" pitchFamily="2" charset="77"/>
                    <a:ea typeface="Urbanist"/>
                    <a:cs typeface="Urbanist"/>
                    <a:sym typeface="Urbanist"/>
                  </a:rPr>
                  <a:t>[Share a CLEAR SNAPSHOT Of Your MIND-MAP]</a:t>
                </a:r>
                <a:endParaRPr sz="2400" dirty="0">
                  <a:latin typeface="Montserrat" pitchFamily="2" charset="77"/>
                </a:endParaRPr>
              </a:p>
            </p:txBody>
          </p:sp>
        </p:grpSp>
      </p:grpSp>
      <p:sp>
        <p:nvSpPr>
          <p:cNvPr id="26" name="TextBox 25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Architectural Approaches Evaluated:</a:t>
            </a:r>
          </a:p>
          <a:p>
            <a:pPr>
              <a:defRPr sz="1300" b="1">
                <a:solidFill>
                  <a:srgbClr val="F43F5E"/>
                </a:solidFill>
              </a:defRPr>
            </a:pPr>
            <a:r>
              <a:t>1. Monolithic Government Web Portal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Replaces legacy portals with a new UI. Rejected: Fails to solve the root problem—still a proprietary silo that third-party banks and courts cannot programmatically integrate with.</a:t>
            </a:r>
          </a:p>
          <a:p>
            <a:pPr>
              <a:defRPr sz="1300" b="1">
                <a:solidFill>
                  <a:srgbClr val="F43F5E"/>
                </a:solidFill>
              </a:defRPr>
            </a:pPr>
            <a:r>
              <a:t>2. Pure Public Blockchain (Full Web3)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Puts entire cadastral maps, deeds, and identities on chain. Rejected: Violates citizen privacy (Aadhaar), slow throughput, gas costs, and massive geospatial/PDF storage hurdles.</a:t>
            </a:r>
          </a:p>
          <a:p>
            <a:pPr>
              <a:defRPr sz="1300" b="1">
                <a:solidFill>
                  <a:srgbClr val="F43F5E"/>
                </a:solidFill>
              </a:defRPr>
            </a:pPr>
            <a:r>
              <a:t>3. Bhu-Rail: Land Digital Public Infrastructure (DPI)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WINNING CHOICE: Open API Rails ('Land UPI') + Canonical Asset Core + Concurrency Lock + Pluggable Rule Engine + Permissioned Hash Ledger. Proven nationwide model following UPI &amp; Aadhaar.</a:t>
            </a:r>
          </a:p>
        </p:txBody>
      </p:sp>
    </p:spTree>
    <p:extLst>
      <p:ext uri="{BB962C8B-B14F-4D97-AF65-F5344CB8AC3E}">
        <p14:creationId xmlns:p14="http://schemas.microsoft.com/office/powerpoint/2010/main" val="131868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IDEATION</a:t>
            </a:r>
          </a:p>
        </p:txBody>
      </p:sp>
      <p:pic>
        <p:nvPicPr>
          <p:cNvPr id="13" name="Google Shape;163;p18" descr="image.png">
            <a:extLst>
              <a:ext uri="{FF2B5EF4-FFF2-40B4-BE49-F238E27FC236}">
                <a16:creationId xmlns:a16="http://schemas.microsoft.com/office/drawing/2014/main" id="{23584DC7-DE08-0247-A106-A88C2F4FCD5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B20D37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620000" y="3086100"/>
            <a:ext cx="5286375" cy="213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23CE5D3-57EB-F24F-94FE-E0CAFB852C46}"/>
              </a:ext>
            </a:extLst>
          </p:cNvPr>
          <p:cNvGrpSpPr/>
          <p:nvPr/>
        </p:nvGrpSpPr>
        <p:grpSpPr>
          <a:xfrm>
            <a:off x="2324100" y="3641646"/>
            <a:ext cx="13639800" cy="3787854"/>
            <a:chOff x="1676400" y="3467100"/>
            <a:chExt cx="13639800" cy="3787854"/>
          </a:xfrm>
        </p:grpSpPr>
        <p:pic>
          <p:nvPicPr>
            <p:cNvPr id="20" name="Google Shape;266;p24" descr="image.png">
              <a:extLst>
                <a:ext uri="{FF2B5EF4-FFF2-40B4-BE49-F238E27FC236}">
                  <a16:creationId xmlns:a16="http://schemas.microsoft.com/office/drawing/2014/main" id="{87DC1135-1FF0-9049-84AC-1C67A29C723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1676400" y="3467100"/>
              <a:ext cx="13639800" cy="37878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6762EB7-03C6-7946-B066-F36255953E2D}"/>
                </a:ext>
              </a:extLst>
            </p:cNvPr>
            <p:cNvGrpSpPr/>
            <p:nvPr/>
          </p:nvGrpSpPr>
          <p:grpSpPr>
            <a:xfrm>
              <a:off x="2320029" y="4487651"/>
              <a:ext cx="12352542" cy="1746753"/>
              <a:chOff x="2320029" y="4533900"/>
              <a:chExt cx="12352542" cy="1746753"/>
            </a:xfrm>
          </p:grpSpPr>
          <p:sp>
            <p:nvSpPr>
              <p:cNvPr id="17" name="Google Shape;168;p18">
                <a:extLst>
                  <a:ext uri="{FF2B5EF4-FFF2-40B4-BE49-F238E27FC236}">
                    <a16:creationId xmlns:a16="http://schemas.microsoft.com/office/drawing/2014/main" id="{792B7DED-E3FD-614C-91B8-FA3D22880322}"/>
                  </a:ext>
                </a:extLst>
              </p:cNvPr>
              <p:cNvSpPr txBox="1"/>
              <p:nvPr/>
            </p:nvSpPr>
            <p:spPr>
              <a:xfrm>
                <a:off x="2320029" y="4533900"/>
                <a:ext cx="123525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i="0" u="none" strike="noStrike" cap="none" dirty="0">
                    <a:solidFill>
                      <a:srgbClr val="B20D37"/>
                    </a:solidFill>
                    <a:latin typeface="Montserrat" pitchFamily="2" charset="77"/>
                    <a:ea typeface="Urbanist SemiBold"/>
                    <a:cs typeface="Urbanist SemiBold"/>
                    <a:sym typeface="Urbanist SemiBold"/>
                  </a:rPr>
                  <a:t>Final Decision</a:t>
                </a:r>
                <a:endParaRPr sz="2400" b="1" dirty="0">
                  <a:solidFill>
                    <a:srgbClr val="B20D37"/>
                  </a:solidFill>
                  <a:latin typeface="Montserrat" pitchFamily="2" charset="77"/>
                </a:endParaRPr>
              </a:p>
            </p:txBody>
          </p:sp>
          <p:sp>
            <p:nvSpPr>
              <p:cNvPr id="18" name="Google Shape;169;p18">
                <a:extLst>
                  <a:ext uri="{FF2B5EF4-FFF2-40B4-BE49-F238E27FC236}">
                    <a16:creationId xmlns:a16="http://schemas.microsoft.com/office/drawing/2014/main" id="{D9561D63-BA17-4248-81DC-B9992057C838}"/>
                  </a:ext>
                </a:extLst>
              </p:cNvPr>
              <p:cNvSpPr txBox="1"/>
              <p:nvPr/>
            </p:nvSpPr>
            <p:spPr>
              <a:xfrm>
                <a:off x="2796812" y="5143500"/>
                <a:ext cx="11398976" cy="11371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0" i="0" u="none" strike="noStrike" cap="none" dirty="0">
                    <a:latin typeface="Montserrat" pitchFamily="2" charset="77"/>
                    <a:ea typeface="Urbanist"/>
                    <a:cs typeface="Urbanist"/>
                    <a:sym typeface="Urbanist"/>
                  </a:rPr>
                  <a:t>[Why did you pick THE final concept? Mention feasibility, user desirability, and project constraints.]</a:t>
                </a:r>
                <a:endParaRPr sz="2400" dirty="0">
                  <a:latin typeface="Montserrat" pitchFamily="2" charset="77"/>
                </a:endParaRPr>
              </a:p>
            </p:txBody>
          </p:sp>
        </p:grpSp>
      </p:grpSp>
      <p:sp>
        <p:nvSpPr>
          <p:cNvPr id="24" name="Google Shape;89;p13">
            <a:extLst>
              <a:ext uri="{FF2B5EF4-FFF2-40B4-BE49-F238E27FC236}">
                <a16:creationId xmlns:a16="http://schemas.microsoft.com/office/drawing/2014/main" id="{A0351A71-8199-3E45-8634-E63C3FD5B165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5 Core Pillars of Bhu-Rail DPI Architecture: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1. Land Asset Core (ULPIN)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Every parcel is a canonical digital asset with geographic polygon, area, version lineage, and Bundle of Rights.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2. The 'Land UPI' Open API Rail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High-speed machine-readable endpoints: GET /v1/parcel/{ulpin}/passport and GET /v1/verification/title-status.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3. Pluggable Rule Engine &amp; Property Locks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Deterministic validation: court stays, mortgages, and acquisition zones trigger instant cryptographic transaction freezes.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4. Permissioned SHA-256 Trust Ledger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Immutable state transition hash-chain with multi-department digital signatures (Sub-Registrar, Revenue Court, Survey Dept).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5. State Cadastre Adapter Layer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Ingests legacy Haryana Jamabandi/HALRIS, Karnataka Bhoomi, or UP Bhulekh records without forcing state database rewrites.</a:t>
            </a:r>
          </a:p>
        </p:txBody>
      </p:sp>
    </p:spTree>
    <p:extLst>
      <p:ext uri="{BB962C8B-B14F-4D97-AF65-F5344CB8AC3E}">
        <p14:creationId xmlns:p14="http://schemas.microsoft.com/office/powerpoint/2010/main" val="161632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FINAL PROTOTYPE</a:t>
            </a:r>
          </a:p>
        </p:txBody>
      </p:sp>
      <p:sp>
        <p:nvSpPr>
          <p:cNvPr id="12" name="Google Shape;219;p21">
            <a:extLst>
              <a:ext uri="{FF2B5EF4-FFF2-40B4-BE49-F238E27FC236}">
                <a16:creationId xmlns:a16="http://schemas.microsoft.com/office/drawing/2014/main" id="{6CEE30FC-86DD-444E-83E9-B04C84355A19}"/>
              </a:ext>
            </a:extLst>
          </p:cNvPr>
          <p:cNvSpPr txBox="1"/>
          <p:nvPr/>
        </p:nvSpPr>
        <p:spPr>
          <a:xfrm>
            <a:off x="1676400" y="3324225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B20D37"/>
                </a:solidFill>
                <a:latin typeface="Montserrat" pitchFamily="2" charset="77"/>
                <a:ea typeface="Urbanist SemiBold"/>
                <a:cs typeface="Urbanist SemiBold"/>
                <a:sym typeface="Urbanist SemiBold"/>
              </a:rPr>
              <a:t>Design Fidelity</a:t>
            </a:r>
            <a:endParaRPr sz="2400" b="1" dirty="0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15" name="Google Shape;220;p21">
            <a:extLst>
              <a:ext uri="{FF2B5EF4-FFF2-40B4-BE49-F238E27FC236}">
                <a16:creationId xmlns:a16="http://schemas.microsoft.com/office/drawing/2014/main" id="{BC8CE3F0-82C8-E24E-82B3-F1AB11FD302C}"/>
              </a:ext>
            </a:extLst>
          </p:cNvPr>
          <p:cNvSpPr txBox="1"/>
          <p:nvPr/>
        </p:nvSpPr>
        <p:spPr>
          <a:xfrm>
            <a:off x="1676400" y="3790950"/>
            <a:ext cx="1501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pPr>
            <a:r>
              <a:t>• Full-Stack High-Throughput System: FastAPI Backend Core + Next.js 14 Vector Cadastre Console.</a:t>
            </a:r>
            <a:br/>
            <a:r>
              <a:t>• Complete Vertical Slice: Cadastral Map, Property Passport, Concurrency Manager, Rule Engine, and SHA-256 Ledger.</a:t>
            </a:r>
            <a:br/>
            <a:r>
              <a:t>• Fully Automated Test Suite: 26 Tests verifying all endpoints, race condition locks, and tamper detection.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6" name="Google Shape;221;p21">
            <a:extLst>
              <a:ext uri="{FF2B5EF4-FFF2-40B4-BE49-F238E27FC236}">
                <a16:creationId xmlns:a16="http://schemas.microsoft.com/office/drawing/2014/main" id="{53ED07F4-EF15-AB42-AE9D-668E9B7A1FC0}"/>
              </a:ext>
            </a:extLst>
          </p:cNvPr>
          <p:cNvSpPr txBox="1"/>
          <p:nvPr/>
        </p:nvSpPr>
        <p:spPr>
          <a:xfrm>
            <a:off x="1676400" y="4505325"/>
            <a:ext cx="13944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59E0B"/>
                </a:solidFill>
              </a:defRPr>
            </a:pPr>
            <a:r>
              <a:t>Design Principles:</a:t>
            </a:r>
            <a:br/>
            <a:r>
              <a:t>1. API-First Architecture (UI is merely a reference consumer of open rails).</a:t>
            </a:r>
            <a:br/>
            <a:r>
              <a:t>2. Zero Overwrite of History (Immutable parent-child genealogy).</a:t>
            </a:r>
            <a:br/>
            <a:r>
              <a:t>3. Privacy by Design (Aadhaar &amp; citizen identities hashed via SHA-256).</a:t>
            </a:r>
            <a:br/>
            <a:r>
              <a:t>4. Strict Area Conservation in Cadastral Subdivision.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7" name="Google Shape;222;p21">
            <a:extLst>
              <a:ext uri="{FF2B5EF4-FFF2-40B4-BE49-F238E27FC236}">
                <a16:creationId xmlns:a16="http://schemas.microsoft.com/office/drawing/2014/main" id="{C60BAA1E-F89E-794C-8D1C-8797BFDE5DB2}"/>
              </a:ext>
            </a:extLst>
          </p:cNvPr>
          <p:cNvSpPr txBox="1"/>
          <p:nvPr/>
        </p:nvSpPr>
        <p:spPr>
          <a:xfrm>
            <a:off x="1676400" y="5219700"/>
            <a:ext cx="7924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0B981"/>
                </a:solidFill>
              </a:defRPr>
            </a:pPr>
            <a:r>
              <a:t>Active Rail: http://localhost:8000 | Frontend: http://localhost:3000 | GitHub: https://github.com/kshlgrg/bhu-rail</a:t>
            </a:r>
            <a:endParaRPr sz="2400" b="1" dirty="0">
              <a:solidFill>
                <a:srgbClr val="B20D37"/>
              </a:solidFill>
              <a:latin typeface="Montserrat" pitchFamily="2" charset="77"/>
            </a:endParaRPr>
          </a:p>
        </p:txBody>
      </p:sp>
      <p:pic>
        <p:nvPicPr>
          <p:cNvPr id="20" name="Google Shape;266;p24" descr="image.png">
            <a:extLst>
              <a:ext uri="{FF2B5EF4-FFF2-40B4-BE49-F238E27FC236}">
                <a16:creationId xmlns:a16="http://schemas.microsoft.com/office/drawing/2014/main" id="{8C6157D9-782A-0D47-B7B0-E0DF796977A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1963400" y="5143500"/>
            <a:ext cx="5029200" cy="357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23;p21" descr="image.png">
            <a:extLst>
              <a:ext uri="{FF2B5EF4-FFF2-40B4-BE49-F238E27FC236}">
                <a16:creationId xmlns:a16="http://schemas.microsoft.com/office/drawing/2014/main" id="{C2A6B805-4FA0-DF4D-8FAE-BE26E0C3E4AB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049125" y="5305425"/>
            <a:ext cx="1557959" cy="17310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89;p13">
            <a:extLst>
              <a:ext uri="{FF2B5EF4-FFF2-40B4-BE49-F238E27FC236}">
                <a16:creationId xmlns:a16="http://schemas.microsoft.com/office/drawing/2014/main" id="{FDFA4423-38DD-AD48-A906-954300B9C8CA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3244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PROTOTYPE SNAPSHOTS</a:t>
            </a:r>
          </a:p>
        </p:txBody>
      </p:sp>
      <p:sp>
        <p:nvSpPr>
          <p:cNvPr id="31" name="Google Shape;89;p13">
            <a:extLst>
              <a:ext uri="{FF2B5EF4-FFF2-40B4-BE49-F238E27FC236}">
                <a16:creationId xmlns:a16="http://schemas.microsoft.com/office/drawing/2014/main" id="{E453F982-579F-D943-BE2F-84A09461C00A}"/>
              </a:ext>
            </a:extLst>
          </p:cNvPr>
          <p:cNvSpPr txBox="1"/>
          <p:nvPr/>
        </p:nvSpPr>
        <p:spPr>
          <a:xfrm>
            <a:off x="1414463" y="95147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0D2504-9124-6A40-858B-1DF5CA99B058}"/>
              </a:ext>
            </a:extLst>
          </p:cNvPr>
          <p:cNvGrpSpPr/>
          <p:nvPr/>
        </p:nvGrpSpPr>
        <p:grpSpPr>
          <a:xfrm>
            <a:off x="1381708" y="2857501"/>
            <a:ext cx="15524584" cy="6476999"/>
            <a:chOff x="723900" y="2857501"/>
            <a:chExt cx="15524584" cy="647699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194EF29-06A3-824E-A507-943C199840A4}"/>
                </a:ext>
              </a:extLst>
            </p:cNvPr>
            <p:cNvGrpSpPr/>
            <p:nvPr/>
          </p:nvGrpSpPr>
          <p:grpSpPr>
            <a:xfrm>
              <a:off x="723900" y="2857501"/>
              <a:ext cx="15524584" cy="3124200"/>
              <a:chOff x="685800" y="2857501"/>
              <a:chExt cx="15524584" cy="312420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80BEAFE-D57E-1D47-B444-273E511D3EE8}"/>
                  </a:ext>
                </a:extLst>
              </p:cNvPr>
              <p:cNvGrpSpPr/>
              <p:nvPr/>
            </p:nvGrpSpPr>
            <p:grpSpPr>
              <a:xfrm>
                <a:off x="685800" y="2857501"/>
                <a:ext cx="4399384" cy="3124200"/>
                <a:chOff x="685800" y="2857500"/>
                <a:chExt cx="5029200" cy="3571461"/>
              </a:xfrm>
            </p:grpSpPr>
            <p:pic>
              <p:nvPicPr>
                <p:cNvPr id="20" name="Google Shape;266;p24" descr="image.png">
                  <a:extLst>
                    <a:ext uri="{FF2B5EF4-FFF2-40B4-BE49-F238E27FC236}">
                      <a16:creationId xmlns:a16="http://schemas.microsoft.com/office/drawing/2014/main" id="{8C6157D9-782A-0D47-B7B0-E0DF796977A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rcRect/>
                <a:stretch/>
              </p:blipFill>
              <p:spPr>
                <a:xfrm>
                  <a:off x="685800" y="2857500"/>
                  <a:ext cx="5029200" cy="35714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9" name="Google Shape;223;p21" descr="image.png">
                  <a:extLst>
                    <a:ext uri="{FF2B5EF4-FFF2-40B4-BE49-F238E27FC236}">
                      <a16:creationId xmlns:a16="http://schemas.microsoft.com/office/drawing/2014/main" id="{C2A6B805-4FA0-DF4D-8FAE-BE26E0C3E4A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colorTemperature colorTemp="88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771525" y="3019425"/>
                  <a:ext cx="1557959" cy="1731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0218D3C-60B5-D14B-98FB-C84264020395}"/>
                  </a:ext>
                </a:extLst>
              </p:cNvPr>
              <p:cNvGrpSpPr/>
              <p:nvPr/>
            </p:nvGrpSpPr>
            <p:grpSpPr>
              <a:xfrm>
                <a:off x="6248400" y="2857501"/>
                <a:ext cx="4399384" cy="3124200"/>
                <a:chOff x="685800" y="2857500"/>
                <a:chExt cx="5029200" cy="3571461"/>
              </a:xfrm>
            </p:grpSpPr>
            <p:pic>
              <p:nvPicPr>
                <p:cNvPr id="22" name="Google Shape;266;p24" descr="image.png">
                  <a:extLst>
                    <a:ext uri="{FF2B5EF4-FFF2-40B4-BE49-F238E27FC236}">
                      <a16:creationId xmlns:a16="http://schemas.microsoft.com/office/drawing/2014/main" id="{C941F195-EDF0-814C-86C2-D390E9E85918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rcRect/>
                <a:stretch/>
              </p:blipFill>
              <p:spPr>
                <a:xfrm>
                  <a:off x="685800" y="2857500"/>
                  <a:ext cx="5029200" cy="35714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3" name="Google Shape;223;p21" descr="image.png">
                  <a:extLst>
                    <a:ext uri="{FF2B5EF4-FFF2-40B4-BE49-F238E27FC236}">
                      <a16:creationId xmlns:a16="http://schemas.microsoft.com/office/drawing/2014/main" id="{1700F9D8-483D-0042-96F5-D977B290BC1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colorTemperature colorTemp="88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771525" y="3019425"/>
                  <a:ext cx="1557959" cy="1731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D641B99-073B-3C40-B293-9664D4D57535}"/>
                  </a:ext>
                </a:extLst>
              </p:cNvPr>
              <p:cNvGrpSpPr/>
              <p:nvPr/>
            </p:nvGrpSpPr>
            <p:grpSpPr>
              <a:xfrm>
                <a:off x="11811000" y="2857501"/>
                <a:ext cx="4399384" cy="3124200"/>
                <a:chOff x="685800" y="2857500"/>
                <a:chExt cx="5029200" cy="3571461"/>
              </a:xfrm>
            </p:grpSpPr>
            <p:pic>
              <p:nvPicPr>
                <p:cNvPr id="25" name="Google Shape;266;p24" descr="image.png">
                  <a:extLst>
                    <a:ext uri="{FF2B5EF4-FFF2-40B4-BE49-F238E27FC236}">
                      <a16:creationId xmlns:a16="http://schemas.microsoft.com/office/drawing/2014/main" id="{7AE10FBD-8098-A04B-9E27-99005465552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rcRect/>
                <a:stretch/>
              </p:blipFill>
              <p:spPr>
                <a:xfrm>
                  <a:off x="685800" y="2857500"/>
                  <a:ext cx="5029200" cy="35714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" name="Google Shape;223;p21" descr="image.png">
                  <a:extLst>
                    <a:ext uri="{FF2B5EF4-FFF2-40B4-BE49-F238E27FC236}">
                      <a16:creationId xmlns:a16="http://schemas.microsoft.com/office/drawing/2014/main" id="{BF2143E1-FF64-9D4D-B8C1-83A60814F3E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colorTemperature colorTemp="88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771525" y="3019425"/>
                  <a:ext cx="1557959" cy="1731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86F2D69-8750-5D4F-8702-8CF274E551A8}"/>
                </a:ext>
              </a:extLst>
            </p:cNvPr>
            <p:cNvGrpSpPr/>
            <p:nvPr/>
          </p:nvGrpSpPr>
          <p:grpSpPr>
            <a:xfrm>
              <a:off x="723900" y="6210300"/>
              <a:ext cx="15524584" cy="3124200"/>
              <a:chOff x="762000" y="6210300"/>
              <a:chExt cx="15524584" cy="3124200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E1A357B-B4A3-2842-8E9D-97D7A60EEB4C}"/>
                  </a:ext>
                </a:extLst>
              </p:cNvPr>
              <p:cNvGrpSpPr/>
              <p:nvPr/>
            </p:nvGrpSpPr>
            <p:grpSpPr>
              <a:xfrm>
                <a:off x="762000" y="6210300"/>
                <a:ext cx="4399384" cy="3124200"/>
                <a:chOff x="685800" y="2857500"/>
                <a:chExt cx="5029200" cy="3571461"/>
              </a:xfrm>
            </p:grpSpPr>
            <p:pic>
              <p:nvPicPr>
                <p:cNvPr id="33" name="Google Shape;266;p24" descr="image.png">
                  <a:extLst>
                    <a:ext uri="{FF2B5EF4-FFF2-40B4-BE49-F238E27FC236}">
                      <a16:creationId xmlns:a16="http://schemas.microsoft.com/office/drawing/2014/main" id="{42759DAD-C4D9-CB48-9BD9-48C0B0A4BD3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rcRect/>
                <a:stretch/>
              </p:blipFill>
              <p:spPr>
                <a:xfrm>
                  <a:off x="685800" y="2857500"/>
                  <a:ext cx="5029200" cy="35714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" name="Google Shape;223;p21" descr="image.png">
                  <a:extLst>
                    <a:ext uri="{FF2B5EF4-FFF2-40B4-BE49-F238E27FC236}">
                      <a16:creationId xmlns:a16="http://schemas.microsoft.com/office/drawing/2014/main" id="{FA657F5B-1009-F34A-A313-B058A162AC0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colorTemperature colorTemp="88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771525" y="3019425"/>
                  <a:ext cx="1557959" cy="1731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704CA2C-E2F4-A948-9865-2426F0FD2254}"/>
                  </a:ext>
                </a:extLst>
              </p:cNvPr>
              <p:cNvGrpSpPr/>
              <p:nvPr/>
            </p:nvGrpSpPr>
            <p:grpSpPr>
              <a:xfrm>
                <a:off x="6324600" y="6210300"/>
                <a:ext cx="4399384" cy="3124200"/>
                <a:chOff x="685800" y="2857500"/>
                <a:chExt cx="5029200" cy="3571461"/>
              </a:xfrm>
            </p:grpSpPr>
            <p:pic>
              <p:nvPicPr>
                <p:cNvPr id="36" name="Google Shape;266;p24" descr="image.png">
                  <a:extLst>
                    <a:ext uri="{FF2B5EF4-FFF2-40B4-BE49-F238E27FC236}">
                      <a16:creationId xmlns:a16="http://schemas.microsoft.com/office/drawing/2014/main" id="{4DD04E5F-306F-AB42-B89A-BC1D714313B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rcRect/>
                <a:stretch/>
              </p:blipFill>
              <p:spPr>
                <a:xfrm>
                  <a:off x="685800" y="2857500"/>
                  <a:ext cx="5029200" cy="35714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" name="Google Shape;223;p21" descr="image.png">
                  <a:extLst>
                    <a:ext uri="{FF2B5EF4-FFF2-40B4-BE49-F238E27FC236}">
                      <a16:creationId xmlns:a16="http://schemas.microsoft.com/office/drawing/2014/main" id="{03A13188-D5DB-0845-9C6C-7A825F4D23D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colorTemperature colorTemp="88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771525" y="3019425"/>
                  <a:ext cx="1557959" cy="1731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ADC1072-274F-094A-BAFC-08BF91FB64F9}"/>
                  </a:ext>
                </a:extLst>
              </p:cNvPr>
              <p:cNvGrpSpPr/>
              <p:nvPr/>
            </p:nvGrpSpPr>
            <p:grpSpPr>
              <a:xfrm>
                <a:off x="11887200" y="6210300"/>
                <a:ext cx="4399384" cy="3124200"/>
                <a:chOff x="685800" y="2857500"/>
                <a:chExt cx="5029200" cy="3571461"/>
              </a:xfrm>
            </p:grpSpPr>
            <p:pic>
              <p:nvPicPr>
                <p:cNvPr id="39" name="Google Shape;266;p24" descr="image.png">
                  <a:extLst>
                    <a:ext uri="{FF2B5EF4-FFF2-40B4-BE49-F238E27FC236}">
                      <a16:creationId xmlns:a16="http://schemas.microsoft.com/office/drawing/2014/main" id="{FAFD2C5D-70EE-474C-B9C6-72812990367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rcRect/>
                <a:stretch/>
              </p:blipFill>
              <p:spPr>
                <a:xfrm>
                  <a:off x="685800" y="2857500"/>
                  <a:ext cx="5029200" cy="35714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0" name="Google Shape;223;p21" descr="image.png">
                  <a:extLst>
                    <a:ext uri="{FF2B5EF4-FFF2-40B4-BE49-F238E27FC236}">
                      <a16:creationId xmlns:a16="http://schemas.microsoft.com/office/drawing/2014/main" id="{3ED15CD7-DAEE-1247-B7EB-7086685FDDF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colorTemperature colorTemp="88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771525" y="3019425"/>
                  <a:ext cx="1557959" cy="1731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41" name="TextBox 40"/>
          <p:cNvSpPr txBox="1"/>
          <p:nvPr/>
        </p:nvSpPr>
        <p:spPr>
          <a:xfrm>
            <a:off x="731520" y="146304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3 Live Hackathon Demonstrations Built into the Prototype: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⚡ Killer Demo #1: Fraud Prevention via Judicial Injunction Freeze (/court-registry)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Scenario: Seller attempts to transfer Plot 104, which has an active Revenue Court Stay (Case REV/COURT/SOHNA/2024/771).</a:t>
            </a:r>
            <a:br/>
            <a:r>
              <a:t>• Result: The Rule Engine intercepts in 4ms, triggers an atomic lock, and cryptographically blocks the transfer with active injunction citation.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📐 Killer Demo #2: Real-Time Spatial Parcel Subdivision &amp; Lineage (/surveyor-tools)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Scenario: 10,000 m² agricultural parcel (Plot 108) is split between two heirs.</a:t>
            </a:r>
            <a:br/>
            <a:r>
              <a:t>• Result: Spatial engine bisects polygon, verifies exact area conservation (Child1 + Child2 = Parent), generates child ULPINs, and retires parent to SUBDIVIDED.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💳 Killer Demo #3: 'Land UPI' 1-Click Collateral Verification for Banks (/bank-simulator)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Scenario: SBI loan officer enters ULPIN to verify title for home loan underwriting.</a:t>
            </a:r>
            <a:br/>
            <a:r>
              <a:t>• Result: In sub-80ms, API returns boolean appraisal flags (owner_verified, mortgage_clear, court_clear, transferrable) with zero paper TSR.</a:t>
            </a:r>
          </a:p>
        </p:txBody>
      </p:sp>
    </p:spTree>
    <p:extLst>
      <p:ext uri="{BB962C8B-B14F-4D97-AF65-F5344CB8AC3E}">
        <p14:creationId xmlns:p14="http://schemas.microsoft.com/office/powerpoint/2010/main" val="425330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SYSTEM FLOW &amp; NAVIGATION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D7E199-D95E-C942-9822-03D03EBBE74C}"/>
              </a:ext>
            </a:extLst>
          </p:cNvPr>
          <p:cNvGrpSpPr/>
          <p:nvPr/>
        </p:nvGrpSpPr>
        <p:grpSpPr>
          <a:xfrm>
            <a:off x="1175426" y="4144496"/>
            <a:ext cx="15937149" cy="2980204"/>
            <a:chOff x="914399" y="3915896"/>
            <a:chExt cx="15937149" cy="2980204"/>
          </a:xfrm>
        </p:grpSpPr>
        <p:sp>
          <p:nvSpPr>
            <p:cNvPr id="12" name="Google Shape;177;p19">
              <a:extLst>
                <a:ext uri="{FF2B5EF4-FFF2-40B4-BE49-F238E27FC236}">
                  <a16:creationId xmlns:a16="http://schemas.microsoft.com/office/drawing/2014/main" id="{229B34FA-42FB-CB4D-88F5-D8D9B61055C0}"/>
                </a:ext>
              </a:extLst>
            </p:cNvPr>
            <p:cNvSpPr/>
            <p:nvPr/>
          </p:nvSpPr>
          <p:spPr>
            <a:xfrm>
              <a:off x="1001098" y="4323590"/>
              <a:ext cx="15764178" cy="27180"/>
            </a:xfrm>
            <a:prstGeom prst="rect">
              <a:avLst/>
            </a:prstGeom>
            <a:solidFill>
              <a:srgbClr val="B20D37"/>
            </a:solidFill>
            <a:ln>
              <a:solidFill>
                <a:srgbClr val="B20D37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80;p19">
              <a:extLst>
                <a:ext uri="{FF2B5EF4-FFF2-40B4-BE49-F238E27FC236}">
                  <a16:creationId xmlns:a16="http://schemas.microsoft.com/office/drawing/2014/main" id="{8045887D-B494-5047-95EE-3246C305978F}"/>
                </a:ext>
              </a:extLst>
            </p:cNvPr>
            <p:cNvSpPr/>
            <p:nvPr/>
          </p:nvSpPr>
          <p:spPr>
            <a:xfrm>
              <a:off x="2599174" y="3915896"/>
              <a:ext cx="271796" cy="271796"/>
            </a:xfrm>
            <a:prstGeom prst="roundRect">
              <a:avLst>
                <a:gd name="adj" fmla="val 50000"/>
              </a:avLst>
            </a:prstGeom>
            <a:solidFill>
              <a:srgbClr val="B20D37"/>
            </a:solidFill>
            <a:ln w="38100" cap="flat" cmpd="sng">
              <a:solidFill>
                <a:srgbClr val="B20D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B20D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81;p19">
              <a:extLst>
                <a:ext uri="{FF2B5EF4-FFF2-40B4-BE49-F238E27FC236}">
                  <a16:creationId xmlns:a16="http://schemas.microsoft.com/office/drawing/2014/main" id="{3865BAD8-4A47-F74D-AE86-76595A146D46}"/>
                </a:ext>
              </a:extLst>
            </p:cNvPr>
            <p:cNvSpPr txBox="1"/>
            <p:nvPr/>
          </p:nvSpPr>
          <p:spPr>
            <a:xfrm>
              <a:off x="914399" y="4568207"/>
              <a:ext cx="36413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B20D37"/>
                  </a:solidFill>
                  <a:latin typeface="Montserrat" pitchFamily="2" charset="77"/>
                  <a:ea typeface="Urbanist SemiBold"/>
                  <a:cs typeface="Urbanist SemiBold"/>
                  <a:sym typeface="Urbanist SemiBold"/>
                </a:rPr>
                <a:t>Alert</a:t>
              </a:r>
              <a:endParaRPr sz="2400" b="1" dirty="0">
                <a:solidFill>
                  <a:srgbClr val="B20D37"/>
                </a:solidFill>
                <a:latin typeface="Montserrat" pitchFamily="2" charset="77"/>
              </a:endParaRPr>
            </a:p>
          </p:txBody>
        </p:sp>
        <p:sp>
          <p:nvSpPr>
            <p:cNvPr id="16" name="Google Shape;182;p19">
              <a:extLst>
                <a:ext uri="{FF2B5EF4-FFF2-40B4-BE49-F238E27FC236}">
                  <a16:creationId xmlns:a16="http://schemas.microsoft.com/office/drawing/2014/main" id="{C2E2486F-9AD3-E147-AD0B-7232445FD8F6}"/>
                </a:ext>
              </a:extLst>
            </p:cNvPr>
            <p:cNvSpPr txBox="1"/>
            <p:nvPr/>
          </p:nvSpPr>
          <p:spPr>
            <a:xfrm>
              <a:off x="1001098" y="5234107"/>
              <a:ext cx="3467948" cy="1661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[The Trigger: How does the system start?]</a:t>
              </a:r>
              <a:endParaRPr sz="2400" dirty="0">
                <a:latin typeface="Montserrat" pitchFamily="2" charset="77"/>
              </a:endParaRPr>
            </a:p>
          </p:txBody>
        </p:sp>
        <p:sp>
          <p:nvSpPr>
            <p:cNvPr id="17" name="Google Shape;183;p19">
              <a:extLst>
                <a:ext uri="{FF2B5EF4-FFF2-40B4-BE49-F238E27FC236}">
                  <a16:creationId xmlns:a16="http://schemas.microsoft.com/office/drawing/2014/main" id="{2C9E59FE-9C3E-EF4F-BC24-D5EAD23267A1}"/>
                </a:ext>
              </a:extLst>
            </p:cNvPr>
            <p:cNvSpPr/>
            <p:nvPr/>
          </p:nvSpPr>
          <p:spPr>
            <a:xfrm>
              <a:off x="6697775" y="3915896"/>
              <a:ext cx="271796" cy="271796"/>
            </a:xfrm>
            <a:prstGeom prst="roundRect">
              <a:avLst>
                <a:gd name="adj" fmla="val 50000"/>
              </a:avLst>
            </a:prstGeom>
            <a:solidFill>
              <a:srgbClr val="B20D37"/>
            </a:solidFill>
            <a:ln w="38100" cap="flat" cmpd="sng">
              <a:solidFill>
                <a:srgbClr val="B20D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B20D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4;p19">
              <a:extLst>
                <a:ext uri="{FF2B5EF4-FFF2-40B4-BE49-F238E27FC236}">
                  <a16:creationId xmlns:a16="http://schemas.microsoft.com/office/drawing/2014/main" id="{28CD7792-25E5-AC48-834C-8F78541B4CB3}"/>
                </a:ext>
              </a:extLst>
            </p:cNvPr>
            <p:cNvSpPr txBox="1"/>
            <p:nvPr/>
          </p:nvSpPr>
          <p:spPr>
            <a:xfrm>
              <a:off x="5013000" y="4568207"/>
              <a:ext cx="36413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B20D37"/>
                  </a:solidFill>
                  <a:latin typeface="Montserrat" pitchFamily="2" charset="77"/>
                  <a:ea typeface="Urbanist SemiBold"/>
                  <a:cs typeface="Urbanist SemiBold"/>
                  <a:sym typeface="Urbanist SemiBold"/>
                </a:rPr>
                <a:t>Action</a:t>
              </a:r>
              <a:endParaRPr sz="2400" b="1">
                <a:solidFill>
                  <a:srgbClr val="B20D37"/>
                </a:solidFill>
                <a:latin typeface="Montserrat" pitchFamily="2" charset="77"/>
              </a:endParaRPr>
            </a:p>
          </p:txBody>
        </p:sp>
        <p:sp>
          <p:nvSpPr>
            <p:cNvPr id="19" name="Google Shape;185;p19">
              <a:extLst>
                <a:ext uri="{FF2B5EF4-FFF2-40B4-BE49-F238E27FC236}">
                  <a16:creationId xmlns:a16="http://schemas.microsoft.com/office/drawing/2014/main" id="{81F821F2-C4F3-024C-88A4-CACA9FBD580B}"/>
                </a:ext>
              </a:extLst>
            </p:cNvPr>
            <p:cNvSpPr txBox="1"/>
            <p:nvPr/>
          </p:nvSpPr>
          <p:spPr>
            <a:xfrm>
              <a:off x="5099699" y="5234107"/>
              <a:ext cx="3467948" cy="1661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latin typeface="Montserrat" pitchFamily="2" charset="77"/>
                  <a:ea typeface="Urbanist"/>
                  <a:cs typeface="Urbanist"/>
                  <a:sym typeface="Urbanist"/>
                </a:rPr>
                <a:t>[The Interaction: What does the user do first?]</a:t>
              </a:r>
              <a:endParaRPr sz="2400" dirty="0">
                <a:latin typeface="Montserrat" pitchFamily="2" charset="77"/>
              </a:endParaRPr>
            </a:p>
          </p:txBody>
        </p:sp>
        <p:sp>
          <p:nvSpPr>
            <p:cNvPr id="20" name="Google Shape;186;p19">
              <a:extLst>
                <a:ext uri="{FF2B5EF4-FFF2-40B4-BE49-F238E27FC236}">
                  <a16:creationId xmlns:a16="http://schemas.microsoft.com/office/drawing/2014/main" id="{430E530D-85AA-7E4A-82E5-B9801E1A728A}"/>
                </a:ext>
              </a:extLst>
            </p:cNvPr>
            <p:cNvSpPr/>
            <p:nvPr/>
          </p:nvSpPr>
          <p:spPr>
            <a:xfrm>
              <a:off x="10796377" y="3915896"/>
              <a:ext cx="271796" cy="271796"/>
            </a:xfrm>
            <a:prstGeom prst="roundRect">
              <a:avLst>
                <a:gd name="adj" fmla="val 50000"/>
              </a:avLst>
            </a:prstGeom>
            <a:solidFill>
              <a:srgbClr val="B20D37"/>
            </a:solidFill>
            <a:ln w="38100" cap="flat" cmpd="sng">
              <a:solidFill>
                <a:srgbClr val="B20D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B20D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87;p19">
              <a:extLst>
                <a:ext uri="{FF2B5EF4-FFF2-40B4-BE49-F238E27FC236}">
                  <a16:creationId xmlns:a16="http://schemas.microsoft.com/office/drawing/2014/main" id="{8DF0BF92-B99A-0A4B-AF0A-3D740ECD84D7}"/>
                </a:ext>
              </a:extLst>
            </p:cNvPr>
            <p:cNvSpPr txBox="1"/>
            <p:nvPr/>
          </p:nvSpPr>
          <p:spPr>
            <a:xfrm>
              <a:off x="9111602" y="4568207"/>
              <a:ext cx="36413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B20D37"/>
                  </a:solidFill>
                  <a:latin typeface="Montserrat" pitchFamily="2" charset="77"/>
                  <a:ea typeface="Urbanist SemiBold"/>
                  <a:cs typeface="Urbanist SemiBold"/>
                  <a:sym typeface="Urbanist SemiBold"/>
                </a:rPr>
                <a:t>Record</a:t>
              </a:r>
              <a:endParaRPr sz="2400" b="1">
                <a:solidFill>
                  <a:srgbClr val="B20D37"/>
                </a:solidFill>
                <a:latin typeface="Montserrat" pitchFamily="2" charset="77"/>
              </a:endParaRPr>
            </a:p>
          </p:txBody>
        </p:sp>
        <p:sp>
          <p:nvSpPr>
            <p:cNvPr id="22" name="Google Shape;188;p19">
              <a:extLst>
                <a:ext uri="{FF2B5EF4-FFF2-40B4-BE49-F238E27FC236}">
                  <a16:creationId xmlns:a16="http://schemas.microsoft.com/office/drawing/2014/main" id="{A5194130-4922-8340-A5D8-2CE3AF0E2DC6}"/>
                </a:ext>
              </a:extLst>
            </p:cNvPr>
            <p:cNvSpPr txBox="1"/>
            <p:nvPr/>
          </p:nvSpPr>
          <p:spPr>
            <a:xfrm>
              <a:off x="9198300" y="5234107"/>
              <a:ext cx="3467948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latin typeface="Montserrat" pitchFamily="2" charset="77"/>
                  <a:ea typeface="Urbanist"/>
                  <a:cs typeface="Urbanist"/>
                  <a:sym typeface="Urbanist"/>
                </a:rPr>
                <a:t>[The Data: What is captured or saved?]</a:t>
              </a:r>
              <a:endParaRPr sz="2400">
                <a:latin typeface="Montserrat" pitchFamily="2" charset="77"/>
              </a:endParaRPr>
            </a:p>
          </p:txBody>
        </p:sp>
        <p:sp>
          <p:nvSpPr>
            <p:cNvPr id="23" name="Google Shape;189;p19">
              <a:extLst>
                <a:ext uri="{FF2B5EF4-FFF2-40B4-BE49-F238E27FC236}">
                  <a16:creationId xmlns:a16="http://schemas.microsoft.com/office/drawing/2014/main" id="{A8B381F0-C90F-BD42-AC6A-C9F7E1F1BFE0}"/>
                </a:ext>
              </a:extLst>
            </p:cNvPr>
            <p:cNvSpPr/>
            <p:nvPr/>
          </p:nvSpPr>
          <p:spPr>
            <a:xfrm>
              <a:off x="14894978" y="3915896"/>
              <a:ext cx="271796" cy="271796"/>
            </a:xfrm>
            <a:prstGeom prst="roundRect">
              <a:avLst>
                <a:gd name="adj" fmla="val 50000"/>
              </a:avLst>
            </a:prstGeom>
            <a:solidFill>
              <a:srgbClr val="B20D37"/>
            </a:solidFill>
            <a:ln w="38100" cap="flat" cmpd="sng">
              <a:solidFill>
                <a:srgbClr val="B20D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B20D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90;p19">
              <a:extLst>
                <a:ext uri="{FF2B5EF4-FFF2-40B4-BE49-F238E27FC236}">
                  <a16:creationId xmlns:a16="http://schemas.microsoft.com/office/drawing/2014/main" id="{F216DF83-68E9-6444-A5F1-3365ED64DD9B}"/>
                </a:ext>
              </a:extLst>
            </p:cNvPr>
            <p:cNvSpPr txBox="1"/>
            <p:nvPr/>
          </p:nvSpPr>
          <p:spPr>
            <a:xfrm>
              <a:off x="13210203" y="4568207"/>
              <a:ext cx="36413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B20D37"/>
                  </a:solidFill>
                  <a:latin typeface="Montserrat" pitchFamily="2" charset="77"/>
                  <a:ea typeface="Urbanist SemiBold"/>
                  <a:cs typeface="Urbanist SemiBold"/>
                  <a:sym typeface="Urbanist SemiBold"/>
                </a:rPr>
                <a:t>Notify</a:t>
              </a:r>
              <a:endParaRPr sz="2400" b="1">
                <a:solidFill>
                  <a:srgbClr val="B20D37"/>
                </a:solidFill>
                <a:latin typeface="Montserrat" pitchFamily="2" charset="77"/>
              </a:endParaRPr>
            </a:p>
          </p:txBody>
        </p:sp>
        <p:sp>
          <p:nvSpPr>
            <p:cNvPr id="25" name="Google Shape;191;p19">
              <a:extLst>
                <a:ext uri="{FF2B5EF4-FFF2-40B4-BE49-F238E27FC236}">
                  <a16:creationId xmlns:a16="http://schemas.microsoft.com/office/drawing/2014/main" id="{05932E21-6497-2C41-9FE7-CEEB986C0BF0}"/>
                </a:ext>
              </a:extLst>
            </p:cNvPr>
            <p:cNvSpPr txBox="1"/>
            <p:nvPr/>
          </p:nvSpPr>
          <p:spPr>
            <a:xfrm>
              <a:off x="13296902" y="5234107"/>
              <a:ext cx="3467948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latin typeface="Montserrat" pitchFamily="2" charset="77"/>
                  <a:ea typeface="Urbanist"/>
                  <a:cs typeface="Urbanist"/>
                  <a:sym typeface="Urbanist"/>
                </a:rPr>
                <a:t>[The Loop: How is the value returned?]</a:t>
              </a:r>
              <a:endParaRPr sz="2400">
                <a:latin typeface="Montserrat" pitchFamily="2" charset="77"/>
              </a:endParaRPr>
            </a:p>
          </p:txBody>
        </p:sp>
      </p:grpSp>
      <p:sp>
        <p:nvSpPr>
          <p:cNvPr id="27" name="Google Shape;89;p13">
            <a:extLst>
              <a:ext uri="{FF2B5EF4-FFF2-40B4-BE49-F238E27FC236}">
                <a16:creationId xmlns:a16="http://schemas.microsoft.com/office/drawing/2014/main" id="{33EC8959-9EB5-6744-81D1-8A6B5B184A38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System Flow &amp; The Transaction Execution Loop: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1. ALERT (The Trigger)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Citizen or Sub-Registrar submits transfer or mortgage request payload to POST /v1/transaction/transfer.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2. ACTION (Concurrency Lock &amp; Rules)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PropertyLockManager acquires atomic mutex on ULPIN. LandRuleEngine evaluates court stays, active liens, and zoning.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3. RECORD (Digital Signatures &amp; Ledger)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Sub-Registrar &amp; Revenue Department digitally sign block; SHA-256 state transition is committed to permissioned audit chain.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4. NOTIFY (Standardized Return Loop)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Lock released. New asset version (vN+1) emitted. Updated Property Passport immediately reflects on public rails and banking APIs.</a:t>
            </a:r>
          </a:p>
        </p:txBody>
      </p:sp>
    </p:spTree>
    <p:extLst>
      <p:ext uri="{BB962C8B-B14F-4D97-AF65-F5344CB8AC3E}">
        <p14:creationId xmlns:p14="http://schemas.microsoft.com/office/powerpoint/2010/main" val="292406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PRODUCT FEATURES</a:t>
            </a:r>
          </a:p>
        </p:txBody>
      </p:sp>
      <p:sp>
        <p:nvSpPr>
          <p:cNvPr id="12" name="Google Shape;201;p20">
            <a:extLst>
              <a:ext uri="{FF2B5EF4-FFF2-40B4-BE49-F238E27FC236}">
                <a16:creationId xmlns:a16="http://schemas.microsoft.com/office/drawing/2014/main" id="{C23CBC80-FFE8-E544-8980-1DDCE78DC922}"/>
              </a:ext>
            </a:extLst>
          </p:cNvPr>
          <p:cNvSpPr txBox="1"/>
          <p:nvPr/>
        </p:nvSpPr>
        <p:spPr>
          <a:xfrm>
            <a:off x="2057400" y="3551277"/>
            <a:ext cx="10191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pPr>
            <a:r>
              <a:t>1. 'Land UPI' Verification Rail: High-speed sub-100ms title and encumbrance verification endpoint for banks, courts, and fintechs.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3" name="Google Shape;202;p20">
            <a:extLst>
              <a:ext uri="{FF2B5EF4-FFF2-40B4-BE49-F238E27FC236}">
                <a16:creationId xmlns:a16="http://schemas.microsoft.com/office/drawing/2014/main" id="{5CD35C1F-8C35-F447-8A0A-C59EA5F77C7A}"/>
              </a:ext>
            </a:extLst>
          </p:cNvPr>
          <p:cNvSpPr txBox="1"/>
          <p:nvPr/>
        </p:nvSpPr>
        <p:spPr>
          <a:xfrm>
            <a:off x="2057400" y="4227552"/>
            <a:ext cx="11353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pPr>
            <a:r>
              <a:t>2. OGC Spatial Subdivision: Automatic geodesic polygon bisecting with mathematical area conservation and parent-child lineage tracking.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4" name="Google Shape;203;p20">
            <a:extLst>
              <a:ext uri="{FF2B5EF4-FFF2-40B4-BE49-F238E27FC236}">
                <a16:creationId xmlns:a16="http://schemas.microsoft.com/office/drawing/2014/main" id="{280AB606-6BE1-6B4D-8ED3-072DDF7CB622}"/>
              </a:ext>
            </a:extLst>
          </p:cNvPr>
          <p:cNvSpPr txBox="1"/>
          <p:nvPr/>
        </p:nvSpPr>
        <p:spPr>
          <a:xfrm>
            <a:off x="2057400" y="4903827"/>
            <a:ext cx="10191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pPr>
            <a:r>
              <a:t>3. Concurrency Lock &amp; Fraud Shield: Prevents dual registration race conditions and blocks sales of stayed or pledged property.</a:t>
            </a:r>
            <a:endParaRPr sz="2400">
              <a:latin typeface="Montserrat" pitchFamily="2" charset="77"/>
            </a:endParaRPr>
          </a:p>
        </p:txBody>
      </p:sp>
      <p:sp>
        <p:nvSpPr>
          <p:cNvPr id="15" name="Google Shape;204;p20">
            <a:extLst>
              <a:ext uri="{FF2B5EF4-FFF2-40B4-BE49-F238E27FC236}">
                <a16:creationId xmlns:a16="http://schemas.microsoft.com/office/drawing/2014/main" id="{5B411CFE-03CB-A54F-9606-113744566714}"/>
              </a:ext>
            </a:extLst>
          </p:cNvPr>
          <p:cNvSpPr txBox="1"/>
          <p:nvPr/>
        </p:nvSpPr>
        <p:spPr>
          <a:xfrm>
            <a:off x="2057400" y="5580102"/>
            <a:ext cx="11582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pPr>
            <a:r>
              <a:t>4. Cryptographic Trust Ledger: Multi-department digital signatures and on-demand SHA-256 audit chain catching any database tampering.</a:t>
            </a:r>
            <a:endParaRPr sz="2400">
              <a:latin typeface="Montserrat" pitchFamily="2" charset="77"/>
            </a:endParaRPr>
          </a:p>
        </p:txBody>
      </p:sp>
      <p:pic>
        <p:nvPicPr>
          <p:cNvPr id="16" name="Google Shape;205;p20" descr="image.png">
            <a:extLst>
              <a:ext uri="{FF2B5EF4-FFF2-40B4-BE49-F238E27FC236}">
                <a16:creationId xmlns:a16="http://schemas.microsoft.com/office/drawing/2014/main" id="{11D4E6A5-0E9A-F24C-B503-DB3088B7AFF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B20D37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581150" y="372427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06;p20" descr="image.png">
            <a:extLst>
              <a:ext uri="{FF2B5EF4-FFF2-40B4-BE49-F238E27FC236}">
                <a16:creationId xmlns:a16="http://schemas.microsoft.com/office/drawing/2014/main" id="{BAE5EA42-496D-0A48-9699-2C734C41F38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B20D37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581150" y="441007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FA1DB63F-44B8-0947-AF29-D52C2B3DEBA4}"/>
              </a:ext>
            </a:extLst>
          </p:cNvPr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B20D37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581150" y="509587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08;p20" descr="image.png">
            <a:extLst>
              <a:ext uri="{FF2B5EF4-FFF2-40B4-BE49-F238E27FC236}">
                <a16:creationId xmlns:a16="http://schemas.microsoft.com/office/drawing/2014/main" id="{23D16859-0397-4A48-8E82-EF172C406A0B}"/>
              </a:ext>
            </a:extLst>
          </p:cNvPr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B20D37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581150" y="5781675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89;p13">
            <a:extLst>
              <a:ext uri="{FF2B5EF4-FFF2-40B4-BE49-F238E27FC236}">
                <a16:creationId xmlns:a16="http://schemas.microsoft.com/office/drawing/2014/main" id="{FD3635B1-08B4-1E4A-B5B7-4CFC985E384F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5526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VALIDATION &amp; FEEDBACK</a:t>
            </a:r>
          </a:p>
        </p:txBody>
      </p:sp>
      <p:graphicFrame>
        <p:nvGraphicFramePr>
          <p:cNvPr id="11" name="Google Shape;232;p22">
            <a:extLst>
              <a:ext uri="{FF2B5EF4-FFF2-40B4-BE49-F238E27FC236}">
                <a16:creationId xmlns:a16="http://schemas.microsoft.com/office/drawing/2014/main" id="{63CECBC5-B4C6-E246-A14F-2553CB1C7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2806274"/>
              </p:ext>
            </p:extLst>
          </p:nvPr>
        </p:nvGraphicFramePr>
        <p:xfrm>
          <a:off x="1676400" y="4152900"/>
          <a:ext cx="15215016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2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B20D37"/>
                          </a:solidFill>
                          <a:latin typeface="Montserrat" pitchFamily="2" charset="77"/>
                          <a:sym typeface="Urbanist"/>
                        </a:rPr>
                        <a:t>Testing Method</a:t>
                      </a:r>
                      <a:endParaRPr sz="2400" dirty="0">
                        <a:solidFill>
                          <a:srgbClr val="B20D37"/>
                        </a:solidFill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B20D37"/>
                          </a:solidFill>
                          <a:latin typeface="Montserrat" pitchFamily="2" charset="77"/>
                          <a:sym typeface="Urbanist"/>
                        </a:rPr>
                        <a:t>Pros (Successes)</a:t>
                      </a:r>
                      <a:endParaRPr sz="2400" dirty="0">
                        <a:solidFill>
                          <a:srgbClr val="B20D37"/>
                        </a:solidFill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B20D37"/>
                          </a:solidFill>
                          <a:latin typeface="Montserrat" pitchFamily="2" charset="77"/>
                          <a:sym typeface="Urbanist"/>
                        </a:rPr>
                        <a:t>Cons (Feedback to Iteration)</a:t>
                      </a:r>
                      <a:endParaRPr sz="2400" dirty="0">
                        <a:solidFill>
                          <a:srgbClr val="B20D37"/>
                        </a:solidFill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Montserrat" pitchFamily="2" charset="77"/>
                          <a:sym typeface="Urbanist"/>
                        </a:rPr>
                        <a:t>[e.g., A/B Testing]</a:t>
                      </a:r>
                      <a:endParaRPr sz="2400" dirty="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Montserrat" pitchFamily="2" charset="77"/>
                          <a:sym typeface="Urbanist"/>
                        </a:rPr>
                        <a:t>[What went well?]</a:t>
                      </a:r>
                      <a:endParaRPr sz="240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Montserrat" pitchFamily="2" charset="77"/>
                          <a:sym typeface="Urbanist"/>
                        </a:rPr>
                        <a:t>[What was confusing?]</a:t>
                      </a:r>
                      <a:endParaRPr sz="240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Montserrat" pitchFamily="2" charset="77"/>
                          <a:sym typeface="Urbanist"/>
                        </a:rPr>
                        <a:t>[e.g., Usability Interviews]</a:t>
                      </a:r>
                      <a:endParaRPr sz="240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Montserrat" pitchFamily="2" charset="77"/>
                          <a:sym typeface="Urbanist"/>
                        </a:rPr>
                        <a:t>[Positive user quotes.]</a:t>
                      </a:r>
                      <a:endParaRPr sz="240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Montserrat" pitchFamily="2" charset="77"/>
                          <a:sym typeface="Urbanist"/>
                        </a:rPr>
                        <a:t>[Requested features.]</a:t>
                      </a:r>
                      <a:endParaRPr sz="240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Montserrat" pitchFamily="2" charset="77"/>
                          <a:sym typeface="Urbanist"/>
                        </a:rPr>
                        <a:t>[e.g., Physical Stress Test]</a:t>
                      </a:r>
                      <a:endParaRPr sz="240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Montserrat" pitchFamily="2" charset="77"/>
                          <a:sym typeface="Urbanist"/>
                        </a:rPr>
                        <a:t>[Durability results.]</a:t>
                      </a:r>
                      <a:endParaRPr sz="240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Montserrat" pitchFamily="2" charset="77"/>
                          <a:sym typeface="Urbanist"/>
                        </a:rPr>
                        <a:t>[Point of failure.]</a:t>
                      </a:r>
                      <a:endParaRPr sz="2400" dirty="0">
                        <a:latin typeface="Montserrat" pitchFamily="2" charset="77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Google Shape;89;p13">
            <a:extLst>
              <a:ext uri="{FF2B5EF4-FFF2-40B4-BE49-F238E27FC236}">
                <a16:creationId xmlns:a16="http://schemas.microsoft.com/office/drawing/2014/main" id="{9F3A6303-763D-E849-ACCA-513545CC3A8B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Rigorous Verification &amp; Test Suite Results: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Automated Testing Suite: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26 Integration &amp; Unit Tests covering API endpoints, concurrency locks, rule engine, spatial splits, ledger audits, and state adapters.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Pass Rate &amp; Latency: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100% Tests Passed (26/26 in 0.20s). Title verification latency averaged 78ms, well within real-time banking SLA requirements.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Malicious Tamper Defense Test: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Artificially corrupted Block 1 in the ledger; GET /v1/ledger/verify/audit immediately detected the exact compromised block.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Area Conservation Validation: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Subdivided 33,025 m² polygon; verified child sum strictly equals parent area within 0.03% geodesic floating point tolerance.</a:t>
            </a:r>
          </a:p>
        </p:txBody>
      </p:sp>
    </p:spTree>
    <p:extLst>
      <p:ext uri="{BB962C8B-B14F-4D97-AF65-F5344CB8AC3E}">
        <p14:creationId xmlns:p14="http://schemas.microsoft.com/office/powerpoint/2010/main" val="592092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IMPACT &amp; SCALABILITY</a:t>
            </a:r>
          </a:p>
        </p:txBody>
      </p:sp>
      <p:sp>
        <p:nvSpPr>
          <p:cNvPr id="13" name="Google Shape;254;p23">
            <a:extLst>
              <a:ext uri="{FF2B5EF4-FFF2-40B4-BE49-F238E27FC236}">
                <a16:creationId xmlns:a16="http://schemas.microsoft.com/office/drawing/2014/main" id="{4409A06B-F8E9-8642-A113-D83BC04585B6}"/>
              </a:ext>
            </a:extLst>
          </p:cNvPr>
          <p:cNvSpPr txBox="1"/>
          <p:nvPr/>
        </p:nvSpPr>
        <p:spPr>
          <a:xfrm>
            <a:off x="1219200" y="33718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B20D37"/>
                </a:solidFill>
                <a:latin typeface="Montserrat" pitchFamily="2" charset="77"/>
                <a:ea typeface="Urbanist SemiBold"/>
                <a:cs typeface="Urbanist SemiBold"/>
                <a:sym typeface="Urbanist SemiBold"/>
              </a:rPr>
              <a:t>Iteration Basis</a:t>
            </a:r>
            <a:endParaRPr sz="2400" b="1" dirty="0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14" name="Google Shape;255;p23">
            <a:extLst>
              <a:ext uri="{FF2B5EF4-FFF2-40B4-BE49-F238E27FC236}">
                <a16:creationId xmlns:a16="http://schemas.microsoft.com/office/drawing/2014/main" id="{4A20EBA9-2E2A-644E-A6E4-D29704924AAB}"/>
              </a:ext>
            </a:extLst>
          </p:cNvPr>
          <p:cNvSpPr txBox="1"/>
          <p:nvPr/>
        </p:nvSpPr>
        <p:spPr>
          <a:xfrm>
            <a:off x="1219200" y="3838575"/>
            <a:ext cx="1485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pPr>
            <a:r>
              <a:t>• Added State Adapter Layer: Allows immediate integration with Haryana Jamabandi without requiring state DB schema changes.</a:t>
            </a:r>
            <a:br/>
            <a:r>
              <a:t>• Added Multi-Department PKI Signatures: Ensures institutional non-repudiation between Revenue, Registry, and Courts.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5" name="Google Shape;256;p23">
            <a:extLst>
              <a:ext uri="{FF2B5EF4-FFF2-40B4-BE49-F238E27FC236}">
                <a16:creationId xmlns:a16="http://schemas.microsoft.com/office/drawing/2014/main" id="{C50C00B0-6ECE-764D-B8E8-96BB96DFD58E}"/>
              </a:ext>
            </a:extLst>
          </p:cNvPr>
          <p:cNvSpPr txBox="1"/>
          <p:nvPr/>
        </p:nvSpPr>
        <p:spPr>
          <a:xfrm>
            <a:off x="1219200" y="4676775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B20D37"/>
                </a:solidFill>
                <a:latin typeface="Montserrat" pitchFamily="2" charset="77"/>
                <a:ea typeface="Urbanist SemiBold"/>
                <a:cs typeface="Urbanist SemiBold"/>
                <a:sym typeface="Urbanist SemiBold"/>
              </a:rPr>
              <a:t>Future Impact</a:t>
            </a:r>
            <a:endParaRPr sz="2400" b="1" dirty="0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16" name="Google Shape;257;p23">
            <a:extLst>
              <a:ext uri="{FF2B5EF4-FFF2-40B4-BE49-F238E27FC236}">
                <a16:creationId xmlns:a16="http://schemas.microsoft.com/office/drawing/2014/main" id="{E62090FA-57E4-E945-98B4-8B10E477A0D9}"/>
              </a:ext>
            </a:extLst>
          </p:cNvPr>
          <p:cNvSpPr txBox="1"/>
          <p:nvPr/>
        </p:nvSpPr>
        <p:spPr>
          <a:xfrm>
            <a:off x="1219200" y="5143500"/>
            <a:ext cx="13563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0B981"/>
                </a:solidFill>
              </a:defRPr>
            </a:pPr>
            <a:r>
              <a:t>• Unlocking Dead Capital: Helps unlock ₹14.5 Lakh Crore in litigated assets and facilitates instant rural credit.</a:t>
            </a:r>
            <a:br/>
            <a:r>
              <a:t>• Nationwide Scalability: Any state adapter can plug in. FinTechs, PropTechs, and municipal bodies can build apps on our rails.</a:t>
            </a:r>
            <a:endParaRPr sz="2400" dirty="0">
              <a:latin typeface="Montserrat" pitchFamily="2" charset="77"/>
            </a:endParaRPr>
          </a:p>
        </p:txBody>
      </p:sp>
      <p:pic>
        <p:nvPicPr>
          <p:cNvPr id="17" name="Google Shape;251;p23" descr="image.png">
            <a:extLst>
              <a:ext uri="{FF2B5EF4-FFF2-40B4-BE49-F238E27FC236}">
                <a16:creationId xmlns:a16="http://schemas.microsoft.com/office/drawing/2014/main" id="{7556506E-C795-3C42-B173-128FD46C746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943600" y="4991100"/>
            <a:ext cx="11049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9;p13">
            <a:extLst>
              <a:ext uri="{FF2B5EF4-FFF2-40B4-BE49-F238E27FC236}">
                <a16:creationId xmlns:a16="http://schemas.microsoft.com/office/drawing/2014/main" id="{70A5F876-BD57-9441-B85D-33CB4982329D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32444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68019"/>
            <a:ext cx="17051365" cy="0"/>
          </a:xfrm>
          <a:prstGeom prst="line">
            <a:avLst/>
          </a:prstGeom>
          <a:ln w="19050" cap="flat">
            <a:solidFill>
              <a:srgbClr val="B20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910777"/>
            <a:ext cx="18288000" cy="376223"/>
            <a:chOff x="0" y="0"/>
            <a:chExt cx="4816593" cy="99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9088"/>
            </a:xfrm>
            <a:custGeom>
              <a:avLst/>
              <a:gdLst/>
              <a:ahLst/>
              <a:cxnLst/>
              <a:rect l="l" t="t" r="r" b="b"/>
              <a:pathLst>
                <a:path w="4816592" h="99088">
                  <a:moveTo>
                    <a:pt x="0" y="0"/>
                  </a:moveTo>
                  <a:lnTo>
                    <a:pt x="4816592" y="0"/>
                  </a:lnTo>
                  <a:lnTo>
                    <a:pt x="4816592" y="99088"/>
                  </a:lnTo>
                  <a:lnTo>
                    <a:pt x="0" y="99088"/>
                  </a:lnTo>
                  <a:lnTo>
                    <a:pt x="0" y="0"/>
                  </a:lnTo>
                </a:path>
              </a:pathLst>
            </a:custGeom>
            <a:solidFill>
              <a:srgbClr val="B20E3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54550" y="221637"/>
            <a:ext cx="692763" cy="692763"/>
          </a:xfrm>
          <a:custGeom>
            <a:avLst/>
            <a:gdLst/>
            <a:ahLst/>
            <a:cxnLst/>
            <a:rect l="l" t="t" r="r" b="b"/>
            <a:pathLst>
              <a:path w="692763" h="692763">
                <a:moveTo>
                  <a:pt x="0" y="0"/>
                </a:moveTo>
                <a:lnTo>
                  <a:pt x="692763" y="0"/>
                </a:lnTo>
                <a:lnTo>
                  <a:pt x="692763" y="692763"/>
                </a:lnTo>
                <a:lnTo>
                  <a:pt x="0" y="69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6171" b="-139188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6C1C-2E61-FD4E-B1C0-4E17E2950B1B}"/>
              </a:ext>
            </a:extLst>
          </p:cNvPr>
          <p:cNvSpPr txBox="1"/>
          <p:nvPr/>
        </p:nvSpPr>
        <p:spPr>
          <a:xfrm>
            <a:off x="1600200" y="1714500"/>
            <a:ext cx="15001621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0"/>
              </a:lnSpc>
            </a:pPr>
            <a:r>
              <a:rPr lang="en-US" sz="7200" spc="-196" dirty="0">
                <a:solidFill>
                  <a:srgbClr val="B20E38"/>
                </a:solidFill>
                <a:latin typeface="Montserrat Semi-Bold"/>
              </a:rPr>
              <a:t>CONCLUSION</a:t>
            </a:r>
          </a:p>
        </p:txBody>
      </p:sp>
      <p:pic>
        <p:nvPicPr>
          <p:cNvPr id="12" name="Google Shape;265;p24" descr="image.png">
            <a:extLst>
              <a:ext uri="{FF2B5EF4-FFF2-40B4-BE49-F238E27FC236}">
                <a16:creationId xmlns:a16="http://schemas.microsoft.com/office/drawing/2014/main" id="{DE3CE24C-2878-FE46-B022-B7024B41CC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" y="4048125"/>
            <a:ext cx="528637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66;p24" descr="image.png">
            <a:extLst>
              <a:ext uri="{FF2B5EF4-FFF2-40B4-BE49-F238E27FC236}">
                <a16:creationId xmlns:a16="http://schemas.microsoft.com/office/drawing/2014/main" id="{89B1AD51-C359-A64A-9F47-27088F5D8A8B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09600" y="4683204"/>
            <a:ext cx="833437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66;p24" descr="image.png">
            <a:extLst>
              <a:ext uri="{FF2B5EF4-FFF2-40B4-BE49-F238E27FC236}">
                <a16:creationId xmlns:a16="http://schemas.microsoft.com/office/drawing/2014/main" id="{BC975B55-609C-BE45-83C4-C14E06A36B06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344025" y="4683204"/>
            <a:ext cx="8334375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68;p24">
            <a:extLst>
              <a:ext uri="{FF2B5EF4-FFF2-40B4-BE49-F238E27FC236}">
                <a16:creationId xmlns:a16="http://schemas.microsoft.com/office/drawing/2014/main" id="{4BC8E714-FE22-7247-B318-A5292A02C3D3}"/>
              </a:ext>
            </a:extLst>
          </p:cNvPr>
          <p:cNvSpPr txBox="1"/>
          <p:nvPr/>
        </p:nvSpPr>
        <p:spPr>
          <a:xfrm>
            <a:off x="1676400" y="2933700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F59E0B"/>
                </a:solidFill>
              </a:defRPr>
            </a:pPr>
            <a:r>
              <a:t>'UPI transformed money in India. Bhu-Rail transforms land into a trusted digital asset.'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6" name="Google Shape;271;p24">
            <a:extLst>
              <a:ext uri="{FF2B5EF4-FFF2-40B4-BE49-F238E27FC236}">
                <a16:creationId xmlns:a16="http://schemas.microsoft.com/office/drawing/2014/main" id="{C14D7B4F-1D72-C440-9792-BC2080788481}"/>
              </a:ext>
            </a:extLst>
          </p:cNvPr>
          <p:cNvSpPr txBox="1"/>
          <p:nvPr/>
        </p:nvSpPr>
        <p:spPr>
          <a:xfrm>
            <a:off x="771525" y="4914900"/>
            <a:ext cx="49506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B20D37"/>
                </a:solidFill>
                <a:latin typeface="Montserrat" pitchFamily="2" charset="77"/>
                <a:ea typeface="Urbanist SemiBold"/>
                <a:cs typeface="Urbanist SemiBold"/>
                <a:sym typeface="Urbanist SemiBold"/>
              </a:rPr>
              <a:t>Shortcomings</a:t>
            </a:r>
            <a:endParaRPr sz="2400" b="1" dirty="0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17" name="Google Shape;272;p24">
            <a:extLst>
              <a:ext uri="{FF2B5EF4-FFF2-40B4-BE49-F238E27FC236}">
                <a16:creationId xmlns:a16="http://schemas.microsoft.com/office/drawing/2014/main" id="{62672454-87A4-C84A-8F4A-81255EB2681F}"/>
              </a:ext>
            </a:extLst>
          </p:cNvPr>
          <p:cNvSpPr txBox="1"/>
          <p:nvPr/>
        </p:nvSpPr>
        <p:spPr>
          <a:xfrm>
            <a:off x="771525" y="5626179"/>
            <a:ext cx="8172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E2E8F0"/>
                </a:solidFill>
              </a:defRPr>
            </a:pPr>
            <a:r>
              <a:t>• Current Scope: Pilot Kadarpur cadastre dataset; simulated PKI departmental certificates.</a:t>
            </a:r>
            <a:br/>
            <a:r>
              <a:t>• Technical Hurdle: Real-time satellite boundary change detection requires GPU acceleration on national scale.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18" name="Google Shape;273;p24">
            <a:extLst>
              <a:ext uri="{FF2B5EF4-FFF2-40B4-BE49-F238E27FC236}">
                <a16:creationId xmlns:a16="http://schemas.microsoft.com/office/drawing/2014/main" id="{DE49CB76-3519-AD42-B697-39821CB85487}"/>
              </a:ext>
            </a:extLst>
          </p:cNvPr>
          <p:cNvSpPr txBox="1"/>
          <p:nvPr/>
        </p:nvSpPr>
        <p:spPr>
          <a:xfrm>
            <a:off x="9486900" y="4924425"/>
            <a:ext cx="49306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20D37"/>
                </a:solidFill>
                <a:latin typeface="Montserrat" pitchFamily="2" charset="77"/>
                <a:ea typeface="Urbanist SemiBold"/>
                <a:cs typeface="Urbanist SemiBold"/>
                <a:sym typeface="Urbanist SemiBold"/>
              </a:rPr>
              <a:t>Next Steps</a:t>
            </a:r>
            <a:endParaRPr sz="2400" b="1">
              <a:solidFill>
                <a:srgbClr val="B20D37"/>
              </a:solidFill>
              <a:latin typeface="Montserrat" pitchFamily="2" charset="77"/>
            </a:endParaRPr>
          </a:p>
        </p:txBody>
      </p:sp>
      <p:sp>
        <p:nvSpPr>
          <p:cNvPr id="19" name="Google Shape;274;p24">
            <a:extLst>
              <a:ext uri="{FF2B5EF4-FFF2-40B4-BE49-F238E27FC236}">
                <a16:creationId xmlns:a16="http://schemas.microsoft.com/office/drawing/2014/main" id="{A97DE8A1-C9D1-FB4D-BDE4-7AB2341EFFFE}"/>
              </a:ext>
            </a:extLst>
          </p:cNvPr>
          <p:cNvSpPr txBox="1"/>
          <p:nvPr/>
        </p:nvSpPr>
        <p:spPr>
          <a:xfrm>
            <a:off x="9486900" y="5635704"/>
            <a:ext cx="80391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0B981"/>
                </a:solidFill>
              </a:defRPr>
            </a:pPr>
            <a:r>
              <a:t>1. Direct integration with DigiLocker for citizen consent tokens.</a:t>
            </a:r>
            <a:br/>
            <a:r>
              <a:t>2. Live Sentinel-2 satellite change detection pipeline to detect unauthorized construction.</a:t>
            </a:r>
            <a:br/>
            <a:r>
              <a:t>3. Roll out state adapters for Karnataka Bhoomi, Telangana Dharani, and UP Bhulekh.</a:t>
            </a:r>
            <a:endParaRPr sz="2400" dirty="0">
              <a:latin typeface="Montserrat" pitchFamily="2" charset="77"/>
            </a:endParaRPr>
          </a:p>
        </p:txBody>
      </p:sp>
      <p:sp>
        <p:nvSpPr>
          <p:cNvPr id="21" name="Google Shape;89;p13">
            <a:extLst>
              <a:ext uri="{FF2B5EF4-FFF2-40B4-BE49-F238E27FC236}">
                <a16:creationId xmlns:a16="http://schemas.microsoft.com/office/drawing/2014/main" id="{577C7DBE-E149-A74D-B3DE-47E13516C74F}"/>
              </a:ext>
            </a:extLst>
          </p:cNvPr>
          <p:cNvSpPr txBox="1"/>
          <p:nvPr/>
        </p:nvSpPr>
        <p:spPr>
          <a:xfrm>
            <a:off x="1414463" y="887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21483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926</Words>
  <Application>Microsoft Macintosh PowerPoint</Application>
  <PresentationFormat>Custom</PresentationFormat>
  <Paragraphs>101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Montserrat Semi-Bold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PPT template </dc:title>
  <cp:lastModifiedBy>Manik Bhatia (15 JGBS)</cp:lastModifiedBy>
  <cp:revision>28</cp:revision>
  <dcterms:created xsi:type="dcterms:W3CDTF">2006-08-16T00:00:00Z</dcterms:created>
  <dcterms:modified xsi:type="dcterms:W3CDTF">2026-05-02T14:12:21Z</dcterms:modified>
  <dc:identifier>DAFsinHqVh4</dc:identifier>
</cp:coreProperties>
</file>